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8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90352" y="4297679"/>
            <a:ext cx="457200" cy="8229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93856" y="3749039"/>
            <a:ext cx="457200" cy="1371600"/>
          </a:xfrm>
          <a:prstGeom prst="rect">
            <a:avLst/>
          </a:prstGeom>
          <a:solidFill>
            <a:srgbClr val="2C4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97360" y="3200399"/>
            <a:ext cx="457200" cy="1920240"/>
          </a:xfrm>
          <a:prstGeom prst="rect">
            <a:avLst/>
          </a:prstGeom>
          <a:solidFill>
            <a:srgbClr val="355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00864" y="2560320"/>
            <a:ext cx="457200" cy="25603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04368" y="1828799"/>
            <a:ext cx="457200" cy="329184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07872" y="1005839"/>
            <a:ext cx="457200" cy="4114800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0352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иллюстрация: прирост эффекта коммуникации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7FAE"/>
                </a:solidFill>
                <a:latin typeface="Calibri"/>
              </a:rPr>
              <a:t>X 5   R E T A I L H E R O   ·   J U N I O R   M L   C O N T E S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Uplift Modeling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с последовательностью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2F4F7"/>
                </a:solidFill>
                <a:latin typeface="Calibri"/>
              </a:rPr>
              <a:t>поведения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9B4C0"/>
                </a:solidFill>
                <a:latin typeface="Calibri"/>
              </a:rPr>
              <a:t>Оценка приростного эффекта клиентских коммуникаций: классические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9B4C0"/>
                </a:solidFill>
                <a:latin typeface="Calibri"/>
              </a:rPr>
              <a:t>CatBoost-learner'ы против Transformer на сырых чеках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92040"/>
            <a:ext cx="365760" cy="27432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29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F4F7"/>
                </a:solidFill>
                <a:latin typeface="Calibri"/>
              </a:rPr>
              <a:t>Галиб Байрамов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949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Продуктовый аналитик, Т-Банк · маркетинговая аналитика, привлечение B2B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71500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ИТМО AI Talent Hub · Junior ML Contest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D4B876"/>
                </a:solidFill>
                <a:latin typeface="Calibri"/>
              </a:rPr>
              <a:t>М О Т И В А Ц И Я   И С С Л Е Д О В А Н И 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Почему я выбрал эту задачу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Профессиональный опыт → исследовательский вопрос → самостоятельная проверка на открытых данных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67128"/>
            <a:ext cx="54864" cy="357530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03704"/>
            <a:ext cx="3003194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Профессиональный контекст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06421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Product Analyst, Т-Банк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Команда роста маркетинговой аналитики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Привлечение B2B-клиентов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оценка маркетинговых запусков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сегментация клиентов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A/B-тесты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— продуктовые метрики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8218" y="2167128"/>
            <a:ext cx="54864" cy="357530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4250" y="2203704"/>
            <a:ext cx="3003194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Возникший вопрос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4250" y="2606421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Средний эффект A/B-теста показывает, работает ли коммуникация в целом, но не отвечает, какому клиенту она помогла.</a:t>
            </a:r>
          </a:p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Можно ли оценить индивидуальный эффект коммуникации?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3516" y="2057400"/>
            <a:ext cx="3515258" cy="3794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3516" y="2167128"/>
            <a:ext cx="54864" cy="357530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548" y="2203704"/>
            <a:ext cx="3003194" cy="668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Самостоятельное исследование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548" y="2844546"/>
            <a:ext cx="3003194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Открытые данные X5 RetailHero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Uplift-моделирование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T-Learner, X-Learner, Transformer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Профессиональная задача стала мотивацией для самостоятельного ML-исследования.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62146" y="3863340"/>
            <a:ext cx="201168" cy="182880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597444" y="3863340"/>
            <a:ext cx="201168" cy="182880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A9B4C0"/>
                </a:solidFill>
                <a:latin typeface="Calibri"/>
              </a:rPr>
              <a:t>Проект выполнен на открытых данных X5 RetailHero. Данные, код и внутренние результаты Т-Банка не использовались.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P R O D U C T   T H I N K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Бизнес-проблема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Коммуникация стоит денег — обращаться нужно к тем, кто изменит поведение именно благодаря 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307238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Стоимость и 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Отправка SMS стоит денег и может раздражать клиента, поэтому обращаться нужно не ко всем, а к тем, кому это действительно поможет.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7963" y="2212848"/>
            <a:ext cx="54864" cy="307238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3995" y="2249424"/>
            <a:ext cx="2078659" cy="668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Отклик — это не прирост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890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Модель отклика находит тех, кто и так с высокой вероятностью купит. Из-за этого она выбирает не тех, кому нужна коммуникация, а тех, кто обошёлся бы и без неё.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2212848"/>
            <a:ext cx="54864" cy="3072384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9039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Причинная оценка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Значит, вместо вероятности покупки нужно оценивать, изменится ли поведение клиента именно благодаря коммуникации.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212848"/>
            <a:ext cx="54864" cy="307238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083" y="2249424"/>
            <a:ext cx="2078659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Цель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083" y="2652141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Тогда при фиксированном бюджете рассылки можно получить максимальный прирост конверсий, а не просто максимум откликов.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X5 RetailHero: данные и постановка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Реальный, публичный датасет — потоковая обработка 4.4 ГБ без загрузки в память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54864" cy="16459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4A7FAE"/>
                </a:solidFill>
                <a:latin typeface="Calibri"/>
              </a:rPr>
              <a:t>400 162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клиента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45.8 млн строк истории покупок до кампании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7963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7963" y="2194560"/>
            <a:ext cx="54864" cy="1645920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5707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C99A4A"/>
                </a:solidFill>
                <a:latin typeface="Calibri"/>
              </a:rPr>
              <a:t>200 039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707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 известным откликом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707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группы с коммуникацией и без — примерно поровну (~50/50)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194560"/>
            <a:ext cx="54864" cy="16459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0751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4B876"/>
                </a:solidFill>
                <a:latin typeface="Calibri"/>
              </a:rPr>
              <a:t>+3.3 п.п.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средний эффект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разница отклика между группами — точка отсчёта для всех моделей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03120"/>
            <a:ext cx="2590723" cy="18288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051" y="2194560"/>
            <a:ext cx="54864" cy="1645920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5795" y="2212848"/>
            <a:ext cx="21152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FA383"/>
                </a:solidFill>
                <a:latin typeface="Calibri"/>
              </a:rPr>
              <a:t>11.2%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5795" y="2766567"/>
            <a:ext cx="21152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утечка устранена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795" y="3364991"/>
            <a:ext cx="21152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first_redeem_date после отсечки — цензурировано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11185855" cy="150876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315968"/>
            <a:ext cx="54864" cy="128930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352544"/>
            <a:ext cx="10673791" cy="430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2F4F7"/>
                </a:solidFill>
                <a:latin typeface="Calibri"/>
              </a:rPr>
              <a:t>Находка: утечка в официальном эталонном решении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755261"/>
            <a:ext cx="10673791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A9B4C0"/>
                </a:solidFill>
                <a:latin typeface="Calibri"/>
              </a:rPr>
              <a:t>Поле first_redeem_date простирается на 8 месяцев дальше окна истории покупок (отсечка 2019-03-18) — значит, оно частично описывает события ПОСЛЕ коммуникации. Официальное решение соревнования использует его «как есть», поэтому в этом проекте оно цензурировано.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Классические uplift-модели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Четыре подхода, один и тот же train/val/holdout сплит и одни и те же метрики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1380744"/>
          </a:xfrm>
          <a:prstGeom prst="rect">
            <a:avLst/>
          </a:prstGeom>
          <a:solidFill>
            <a:srgbClr val="8C83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4943703" cy="43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2F4F7"/>
                </a:solidFill>
                <a:latin typeface="Calibri"/>
              </a:rPr>
              <a:t>0 · Random targeting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6007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Случайный порядок клиентов — не модель, а точка отсчёта: любая рабочая модель должна её обыграть.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2212848"/>
            <a:ext cx="54864" cy="138074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9039" y="2249424"/>
            <a:ext cx="4943703" cy="43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2F4F7"/>
                </a:solidFill>
                <a:latin typeface="Calibri"/>
              </a:rPr>
              <a:t>1 · Response CatBoost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66007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Предсказывает P(Y=1|X) — вероятность покупки без учёта коммуникации, а значит, повторяет ту же ошибку, о которой шла речь на слайде 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77639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87368"/>
            <a:ext cx="54864" cy="138074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123944"/>
            <a:ext cx="4943703" cy="43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2F4F7"/>
                </a:solidFill>
                <a:latin typeface="Calibri"/>
              </a:rPr>
              <a:t>2 · T-Learner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53459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Обучает две отдельные CatBoost-модели на группах с коммуникацией и без, а прирост считает как разницу их прогнозов: τ(x) = μ₁(x) − μ₀(x).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455767" cy="160020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4087368"/>
            <a:ext cx="54864" cy="138074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9039" y="4123944"/>
            <a:ext cx="4943703" cy="43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2F4F7"/>
                </a:solidFill>
                <a:latin typeface="Calibri"/>
              </a:rPr>
              <a:t>3 · X-Learner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039" y="4534598"/>
            <a:ext cx="494370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4-стадийная реализация (Kunzel et al., 2019) — не разность прогнозов, а отдельные модели эффекта с взвешиванием по вероятности коммуникации (propensity).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E V E L O P M E N T   &amp;   E N G I N E E R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Transformer: shared representation, two heads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Обязательная модель проекта — работает на сырой последовательности чеков клиента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Последовательность
чеков клиента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44368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27248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Эмбеддинги события,
позиции и времени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68696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51576" y="1965960"/>
            <a:ext cx="2423160" cy="914400"/>
          </a:xfrm>
          <a:prstGeom prst="round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Transformer-
кодировщик (2 слоя)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93023" y="2322576"/>
            <a:ext cx="164592" cy="201168"/>
          </a:xfrm>
          <a:prstGeom prst="right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75904" y="1965960"/>
            <a:ext cx="2423160" cy="914400"/>
          </a:xfrm>
          <a:prstGeom prst="round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2F4F7"/>
                </a:solidFill>
                <a:latin typeface="Calibri"/>
              </a:rPr>
              <a:t>Представление
клиента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46120"/>
            <a:ext cx="2377440" cy="777240"/>
          </a:xfrm>
          <a:prstGeom prst="round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161C"/>
                </a:solidFill>
                <a:latin typeface="Calibri"/>
              </a:rPr>
              <a:t>Без коммуникации
μ₀(x)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246120"/>
            <a:ext cx="2377440" cy="777240"/>
          </a:xfrm>
          <a:prstGeom prst="round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2161C"/>
                </a:solidFill>
                <a:latin typeface="Calibri"/>
              </a:rPr>
              <a:t>С коммуникацией
μ₁(x)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412480" y="2907791"/>
            <a:ext cx="201168" cy="237744"/>
          </a:xfrm>
          <a:prstGeom prst="downArrow">
            <a:avLst/>
          </a:prstGeom>
          <a:solidFill>
            <a:srgbClr val="A9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4343400"/>
            <a:ext cx="2377440" cy="640080"/>
          </a:xfrm>
          <a:prstGeom prst="roundRect">
            <a:avLst/>
          </a:prstGeom>
          <a:solidFill>
            <a:srgbClr val="1E2530"/>
          </a:solidFill>
          <a:ln w="15875">
            <a:solidFill>
              <a:srgbClr val="4A7F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4F7"/>
                </a:solidFill>
                <a:latin typeface="Calibri"/>
              </a:rPr>
              <a:t>uplift = μ₁(x) − μ₀(x)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663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276088"/>
            <a:ext cx="54864" cy="74066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5312664"/>
            <a:ext cx="1067379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Единица последовательности — чек, не товарная позиция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5699506"/>
            <a:ext cx="106737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A9B4C0"/>
                </a:solidFill>
                <a:latin typeface="Calibri"/>
              </a:rPr>
              <a:t>Сравнил распределения длин по трём уровням: на товарном истории оказались слишком длинными (p95=312, max=2513) — поэтому выбрал чек: он компактнее (p95=54) и при этом сохраняет реальную гранулярность похода в магазин.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D A T A   S C I E N C E   ·   R E S U L T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Результаты на отложенной выборке (n = 40 011)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Единая метрика для всех моделей: src/uplift_metrics.py, 9 unit-тестов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9B4C0"/>
                </a:solidFill>
                <a:latin typeface="Calibri"/>
              </a:rPr>
              <a:t>Qini/AUUC: 0 — модель не лучше случайного порядка; больше — точнее находит нужных клиентов; отрицательное — модель вредит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14600"/>
          <a:ext cx="548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2F4F7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2F4F7"/>
                          </a:solidFill>
                          <a:latin typeface="Calibri"/>
                        </a:rPr>
                        <a:t>Qini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2F4F7"/>
                          </a:solidFill>
                          <a:latin typeface="Calibri"/>
                        </a:rPr>
                        <a:t>AUUC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2F4F7"/>
                          </a:solidFill>
                          <a:latin typeface="Calibri"/>
                        </a:rPr>
                        <a:t>uplift@30%</a:t>
                      </a:r>
                    </a:p>
                  </a:txBody>
                  <a:tcPr>
                    <a:solidFill>
                      <a:srgbClr val="4A7FAE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X-Learner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4A7FAE"/>
                          </a:solidFill>
                          <a:latin typeface="Calibri"/>
                        </a:rPr>
                        <a:t>0.0042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0.0125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2F4F7"/>
                          </a:solidFill>
                          <a:latin typeface="Calibri"/>
                        </a:rPr>
                        <a:t>0.0755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T-Learner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0.0037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0.0639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0.0017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0.0100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0.0481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0.0007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0.0374</a:t>
                      </a:r>
                    </a:p>
                  </a:txBody>
                  <a:tcPr>
                    <a:solidFill>
                      <a:srgbClr val="181E26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Response CatBoost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4685F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0.0068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F2F4F7"/>
                          </a:solidFill>
                          <a:latin typeface="Calibri"/>
                        </a:rPr>
                        <a:t>0.0219</a:t>
                      </a:r>
                    </a:p>
                  </a:txBody>
                  <a:tcPr>
                    <a:solidFill>
                      <a:srgbClr val="1E2530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presentation_qini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140" y="2514600"/>
            <a:ext cx="505968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48463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4956048"/>
            <a:ext cx="54864" cy="1243584"/>
          </a:xfrm>
          <a:prstGeom prst="rect">
            <a:avLst/>
          </a:prstGeom>
          <a:solidFill>
            <a:srgbClr val="315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4992624"/>
            <a:ext cx="4974336" cy="406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2F4F7"/>
                </a:solidFill>
                <a:latin typeface="Calibri"/>
              </a:rPr>
              <a:t>Главный вывод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5371528"/>
            <a:ext cx="497433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A9B4C0"/>
                </a:solidFill>
                <a:latin typeface="Calibri"/>
              </a:rPr>
              <a:t>Порядок X-Learner &gt; T-Learner &gt; Transformer &gt; Random &gt; Response одинаков по всем трём метрикам — не случайность одного показателя. Модель отклика значимо ХУЖЕ случайного распределения: весь ДИ Qini отрицательный.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A7FAE"/>
                </a:solidFill>
                <a:latin typeface="Calibri"/>
              </a:rPr>
              <a:t>P R O D U C T   T H I N K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Бизнес-эффект (сценарий) и A/B-тест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Офлайн Qini/AUUC — не доказательство реального бизнес-эффекта</a:t>
            </a:r>
          </a:p>
        </p:txBody>
      </p:sp>
      <p:pic>
        <p:nvPicPr>
          <p:cNvPr id="6" name="Picture 5" descr="presentation_business_ev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11680"/>
            <a:ext cx="5547360" cy="4160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37959" y="201168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59" y="2121408"/>
            <a:ext cx="54864" cy="110642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215798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Сценарий, не 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93992" y="254482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Чтобы перевести ранжирование в деньги, я задал иллюстративные допущения — маржа 300₽, стоимость SMS 5₽. Это метод, а не факты X5 или Т-Банка.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59" y="347472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3584448"/>
            <a:ext cx="54864" cy="110642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62102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Лучший результат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400786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При этих допущениях наибольший ожидаемый эффект даёт X-Learner — на охвате примерно 57% аудитории.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4937760"/>
            <a:ext cx="5150815" cy="132588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59" y="5047488"/>
            <a:ext cx="54864" cy="110642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2" y="5084064"/>
            <a:ext cx="4638751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Перед внедрением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3992" y="5470906"/>
            <a:ext cx="463875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Офлайн-метрики этого не доказывают, поэтому нужен онлайн A/B-эксперимент с защитными метриками и оценкой минимального эффекта.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292608" cy="45720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10896"/>
            <a:ext cx="11185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D4B876"/>
                </a:solidFill>
                <a:latin typeface="Calibri"/>
              </a:rPr>
              <a:t>И Т О 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2F4F7"/>
                </a:solidFill>
                <a:latin typeface="Calibri"/>
              </a:rPr>
              <a:t>Выводы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A9B4C0"/>
                </a:solidFill>
                <a:latin typeface="Calibri"/>
              </a:rPr>
              <a:t>Ранжирование моделей согласовано по всем метрикам, оба ключевых вывода подтверждены доверительными интервалами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54864" cy="3072384"/>
          </a:xfrm>
          <a:prstGeom prst="rect">
            <a:avLst/>
          </a:prstGeom>
          <a:solidFill>
            <a:srgbClr val="4A7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Ранжирование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36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X-Learner &gt; T-Learner &gt; Transformer &gt; Random &gt; Response — согласовано по Qini, AUUC, uplift@30%.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7963" y="2212848"/>
            <a:ext cx="54864" cy="3072384"/>
          </a:xfrm>
          <a:prstGeom prst="rect">
            <a:avLst/>
          </a:prstGeom>
          <a:solidFill>
            <a:srgbClr val="C9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3995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Отклик вреден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636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Доверительный интервал Qini для модели отклика целиком отрицательный — значит, она не просто не помогает, а систематически хуже случайного распределения.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2212848"/>
            <a:ext cx="54864" cy="3072384"/>
          </a:xfrm>
          <a:prstGeom prst="rect">
            <a:avLst/>
          </a:prstGeom>
          <a:solidFill>
            <a:srgbClr val="D4B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9039" y="2249424"/>
            <a:ext cx="2078659" cy="636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Transformer уступает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285851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ДИ не пересекает ноль, значит, модель значимо лучше случайного распределения — но при этом CPU-бюджете обучения всё же уступает табличным моделям.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590723" cy="3291840"/>
          </a:xfrm>
          <a:prstGeom prst="roundRect">
            <a:avLst>
              <a:gd name="adj" fmla="val 6000"/>
            </a:avLst>
          </a:prstGeom>
          <a:solidFill>
            <a:srgbClr val="1E2530"/>
          </a:solidFill>
          <a:ln w="9525">
            <a:solidFill>
              <a:srgbClr val="2E38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212848"/>
            <a:ext cx="54864" cy="3072384"/>
          </a:xfrm>
          <a:prstGeom prst="rect">
            <a:avLst/>
          </a:prstGeom>
          <a:solidFill>
            <a:srgbClr val="5FA3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083" y="2249424"/>
            <a:ext cx="2078659" cy="414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2F4F7"/>
                </a:solidFill>
                <a:latin typeface="Calibri"/>
              </a:rPr>
              <a:t>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083" y="2636266"/>
            <a:ext cx="20786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A9B4C0"/>
                </a:solidFill>
                <a:latin typeface="Calibri"/>
              </a:rPr>
              <a:t>Онлайн A/B-эксперимент, больший бюджет обучения Transformer, MLOps-пайплайн для продакшна.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10972"/>
          </a:xfrm>
          <a:prstGeom prst="rect">
            <a:avLst/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Uplift Modeling · Junior ML Contest · AI Talent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4739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A9B4C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