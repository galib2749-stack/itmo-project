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3" d="100"/>
          <a:sy n="153" d="100"/>
        </p:scale>
        <p:origin x="576" y="1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558851" y="0"/>
            <a:ext cx="4632844" cy="6858000"/>
          </a:xfrm>
          <a:prstGeom prst="rect">
            <a:avLst/>
          </a:prstGeom>
          <a:solidFill>
            <a:srgbClr val="181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90352" y="4297679"/>
            <a:ext cx="457200" cy="82296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893856" y="3749039"/>
            <a:ext cx="457200" cy="1371600"/>
          </a:xfrm>
          <a:prstGeom prst="rect">
            <a:avLst/>
          </a:prstGeom>
          <a:solidFill>
            <a:srgbClr val="2C4A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497360" y="3200399"/>
            <a:ext cx="457200" cy="1920240"/>
          </a:xfrm>
          <a:prstGeom prst="rect">
            <a:avLst/>
          </a:prstGeom>
          <a:solidFill>
            <a:srgbClr val="355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100864" y="2560320"/>
            <a:ext cx="457200" cy="2560320"/>
          </a:xfrm>
          <a:prstGeom prst="rect">
            <a:avLst/>
          </a:prstGeom>
          <a:solidFill>
            <a:srgbClr val="4A7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04368" y="1828799"/>
            <a:ext cx="457200" cy="3291840"/>
          </a:xfrm>
          <a:prstGeom prst="rect">
            <a:avLst/>
          </a:prstGeom>
          <a:solidFill>
            <a:srgbClr val="D4B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307872" y="1005839"/>
            <a:ext cx="457200" cy="4114800"/>
          </a:xfrm>
          <a:prstGeom prst="rect">
            <a:avLst/>
          </a:prstGeom>
          <a:solidFill>
            <a:srgbClr val="5FA3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45720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A7FAE"/>
                </a:solidFill>
                <a:latin typeface="Calibri"/>
              </a:rPr>
              <a:t>X 5   R E T A I L H E R O   ·   J U N I O R   M L   C O N T E S 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737360"/>
            <a:ext cx="6400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F2F4F7"/>
                </a:solidFill>
                <a:latin typeface="Calibri"/>
              </a:rPr>
              <a:t>Uplift Modeling</a:t>
            </a:r>
          </a:p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F2F4F7"/>
                </a:solidFill>
                <a:latin typeface="Calibri"/>
              </a:rPr>
              <a:t>с последовательностью</a:t>
            </a:r>
          </a:p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F2F4F7"/>
                </a:solidFill>
                <a:latin typeface="Calibri"/>
              </a:rPr>
              <a:t>поведения клиента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70332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A9B4C0"/>
                </a:solidFill>
                <a:latin typeface="Calibri"/>
              </a:rPr>
              <a:t>Оценка приростного эффекта клиентских коммуникаций: классические</a:t>
            </a:r>
          </a:p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A9B4C0"/>
                </a:solidFill>
                <a:latin typeface="Calibri"/>
              </a:rPr>
              <a:t>CatBoost-learner'ы против Transformer на сырых чеках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892040"/>
            <a:ext cx="365760" cy="27432"/>
          </a:xfrm>
          <a:prstGeom prst="rect">
            <a:avLst/>
          </a:prstGeom>
          <a:solidFill>
            <a:srgbClr val="4A7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502920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2F4F7"/>
                </a:solidFill>
                <a:latin typeface="Calibri"/>
              </a:rPr>
              <a:t>Галиб Байрамов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394960"/>
            <a:ext cx="6126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A9B4C0"/>
                </a:solidFill>
                <a:latin typeface="Calibri"/>
              </a:rPr>
              <a:t>Продуктовый аналитик, Т-Банк · маркетинговая аналитика, привлечение B2B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715000"/>
            <a:ext cx="6126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A9B4C0"/>
                </a:solidFill>
                <a:latin typeface="Calibri"/>
              </a:rPr>
              <a:t>ИТМО AI Talent Hub · Junior ML Contest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38912"/>
            <a:ext cx="292608" cy="45720"/>
          </a:xfrm>
          <a:prstGeom prst="rect">
            <a:avLst/>
          </a:prstGeom>
          <a:solidFill>
            <a:srgbClr val="D4B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310896"/>
            <a:ext cx="11185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D4B876"/>
                </a:solidFill>
                <a:latin typeface="Calibri"/>
              </a:rPr>
              <a:t>М О Т И В А Ц И Я   И С С Л Е Д О В А Н И 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3000"/>
              </a:lnSpc>
            </a:pPr>
            <a:r>
              <a:rPr sz="3000" b="1" i="0">
                <a:solidFill>
                  <a:srgbClr val="F2F4F7"/>
                </a:solidFill>
                <a:latin typeface="Calibri"/>
              </a:rPr>
              <a:t>Почему я выбрал эту задачу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A9B4C0"/>
                </a:solidFill>
                <a:latin typeface="Calibri"/>
              </a:rPr>
              <a:t>Профессиональный опыт → исследовательский вопрос → самостоятельная проверка на открытых данных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57400"/>
            <a:ext cx="3515258" cy="3794760"/>
          </a:xfrm>
          <a:prstGeom prst="roundRect">
            <a:avLst>
              <a:gd name="adj" fmla="val 6000"/>
            </a:avLst>
          </a:prstGeom>
          <a:solidFill>
            <a:srgbClr val="1E2530"/>
          </a:solidFill>
          <a:ln w="9525">
            <a:solidFill>
              <a:srgbClr val="2E38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2167128"/>
            <a:ext cx="54864" cy="3575304"/>
          </a:xfrm>
          <a:prstGeom prst="rect">
            <a:avLst/>
          </a:prstGeom>
          <a:solidFill>
            <a:srgbClr val="3157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58952" y="2203704"/>
            <a:ext cx="3003194" cy="4301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2F4F7"/>
                </a:solidFill>
                <a:latin typeface="Calibri"/>
              </a:rPr>
              <a:t>Профессиональный контекст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606421"/>
            <a:ext cx="3003194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A9B4C0"/>
                </a:solidFill>
                <a:latin typeface="Calibri"/>
              </a:rPr>
              <a:t>Product Analyst, Т-Банк</a:t>
            </a:r>
          </a:p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A9B4C0"/>
                </a:solidFill>
                <a:latin typeface="Calibri"/>
              </a:rPr>
              <a:t>Команда роста маркетинговой аналитики</a:t>
            </a:r>
          </a:p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A9B4C0"/>
                </a:solidFill>
                <a:latin typeface="Calibri"/>
              </a:rPr>
              <a:t>Привлечение B2B-клиентов</a:t>
            </a:r>
          </a:p>
          <a:p>
            <a:pPr algn="l">
              <a:lnSpc>
                <a:spcPct val="108000"/>
              </a:lnSpc>
            </a:pPr>
            <a:endParaRPr sz="1300" b="0" i="0">
              <a:solidFill>
                <a:srgbClr val="A9B4C0"/>
              </a:solidFill>
              <a:latin typeface="Calibri"/>
            </a:endParaRPr>
          </a:p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A9B4C0"/>
                </a:solidFill>
                <a:latin typeface="Calibri"/>
              </a:rPr>
              <a:t>— оценка маркетинговых запусков</a:t>
            </a:r>
          </a:p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A9B4C0"/>
                </a:solidFill>
                <a:latin typeface="Calibri"/>
              </a:rPr>
              <a:t>— сегментация клиентов</a:t>
            </a:r>
          </a:p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A9B4C0"/>
                </a:solidFill>
                <a:latin typeface="Calibri"/>
              </a:rPr>
              <a:t>— A/B-тесты</a:t>
            </a:r>
          </a:p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A9B4C0"/>
                </a:solidFill>
                <a:latin typeface="Calibri"/>
              </a:rPr>
              <a:t>— продуктовые метрики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2057400"/>
            <a:ext cx="3515258" cy="3794760"/>
          </a:xfrm>
          <a:prstGeom prst="roundRect">
            <a:avLst>
              <a:gd name="adj" fmla="val 6000"/>
            </a:avLst>
          </a:prstGeom>
          <a:solidFill>
            <a:srgbClr val="1E2530"/>
          </a:solidFill>
          <a:ln w="9525">
            <a:solidFill>
              <a:srgbClr val="2E38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38218" y="2167128"/>
            <a:ext cx="54864" cy="3575304"/>
          </a:xfrm>
          <a:prstGeom prst="rect">
            <a:avLst/>
          </a:prstGeom>
          <a:solidFill>
            <a:srgbClr val="C99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94250" y="2203704"/>
            <a:ext cx="3003194" cy="4301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2F4F7"/>
                </a:solidFill>
                <a:latin typeface="Calibri"/>
              </a:rPr>
              <a:t>Возникший вопрос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4250" y="2606421"/>
            <a:ext cx="3003194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0">
                <a:solidFill>
                  <a:srgbClr val="A9B4C0"/>
                </a:solidFill>
                <a:latin typeface="Calibri"/>
              </a:rPr>
              <a:t>Средний эффект A/B-теста показывает, работает ли коммуникация в целом, но не отвечает, какому клиенту она помогла.</a:t>
            </a:r>
          </a:p>
          <a:p>
            <a:pPr algn="l">
              <a:lnSpc>
                <a:spcPct val="108000"/>
              </a:lnSpc>
            </a:pPr>
            <a:endParaRPr sz="1350" b="0" i="0">
              <a:solidFill>
                <a:srgbClr val="A9B4C0"/>
              </a:solidFill>
              <a:latin typeface="Calibri"/>
            </a:endParaRPr>
          </a:p>
          <a:p>
            <a:pPr algn="l">
              <a:lnSpc>
                <a:spcPct val="108000"/>
              </a:lnSpc>
            </a:pPr>
            <a:r>
              <a:rPr sz="1350" b="0" i="0">
                <a:solidFill>
                  <a:srgbClr val="A9B4C0"/>
                </a:solidFill>
                <a:latin typeface="Calibri"/>
              </a:rPr>
              <a:t>Можно ли оценить индивидуальный эффект коммуникации?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73516" y="2057400"/>
            <a:ext cx="3515258" cy="3794760"/>
          </a:xfrm>
          <a:prstGeom prst="roundRect">
            <a:avLst>
              <a:gd name="adj" fmla="val 6000"/>
            </a:avLst>
          </a:prstGeom>
          <a:solidFill>
            <a:srgbClr val="1E2530"/>
          </a:solidFill>
          <a:ln w="9525">
            <a:solidFill>
              <a:srgbClr val="2E38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73516" y="2167128"/>
            <a:ext cx="54864" cy="3575304"/>
          </a:xfrm>
          <a:prstGeom prst="rect">
            <a:avLst/>
          </a:prstGeom>
          <a:solidFill>
            <a:srgbClr val="5FA3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29548" y="2203704"/>
            <a:ext cx="3003194" cy="668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2F4F7"/>
                </a:solidFill>
                <a:latin typeface="Calibri"/>
              </a:rPr>
              <a:t>Самостоятельное исследование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29548" y="2844546"/>
            <a:ext cx="3003194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A9B4C0"/>
                </a:solidFill>
                <a:latin typeface="Calibri"/>
              </a:rPr>
              <a:t>Открытые данные X5 RetailHero</a:t>
            </a:r>
          </a:p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A9B4C0"/>
                </a:solidFill>
                <a:latin typeface="Calibri"/>
              </a:rPr>
              <a:t>Uplift-моделирование</a:t>
            </a:r>
          </a:p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A9B4C0"/>
                </a:solidFill>
                <a:latin typeface="Calibri"/>
              </a:rPr>
              <a:t>T-Learner, X-Learner, Transformer</a:t>
            </a:r>
          </a:p>
          <a:p>
            <a:pPr algn="l">
              <a:lnSpc>
                <a:spcPct val="108000"/>
              </a:lnSpc>
            </a:pPr>
            <a:endParaRPr sz="1300" b="0" i="0">
              <a:solidFill>
                <a:srgbClr val="A9B4C0"/>
              </a:solidFill>
              <a:latin typeface="Calibri"/>
            </a:endParaRPr>
          </a:p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A9B4C0"/>
                </a:solidFill>
                <a:latin typeface="Calibri"/>
              </a:rPr>
              <a:t>Профессиональная задача стала мотивацией для самостоятельного ML-исследования.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762146" y="3863340"/>
            <a:ext cx="201168" cy="182880"/>
          </a:xfrm>
          <a:prstGeom prst="rightArrow">
            <a:avLst/>
          </a:prstGeom>
          <a:solidFill>
            <a:srgbClr val="A9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ight Arrow 18"/>
          <p:cNvSpPr/>
          <p:nvPr/>
        </p:nvSpPr>
        <p:spPr>
          <a:xfrm>
            <a:off x="7597444" y="3863340"/>
            <a:ext cx="201168" cy="182880"/>
          </a:xfrm>
          <a:prstGeom prst="rightArrow">
            <a:avLst/>
          </a:prstGeom>
          <a:solidFill>
            <a:srgbClr val="A9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02920" y="6080760"/>
            <a:ext cx="11185855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1" dirty="0" err="1">
                <a:solidFill>
                  <a:srgbClr val="A9B4C0"/>
                </a:solidFill>
                <a:latin typeface="Calibri"/>
              </a:rPr>
              <a:t>Проект</a:t>
            </a:r>
            <a:r>
              <a:rPr sz="1250" b="0" i="1" dirty="0">
                <a:solidFill>
                  <a:srgbClr val="A9B4C0"/>
                </a:solidFill>
                <a:latin typeface="Calibri"/>
              </a:rPr>
              <a:t> </a:t>
            </a:r>
            <a:r>
              <a:rPr sz="1250" b="0" i="1" dirty="0" err="1">
                <a:solidFill>
                  <a:srgbClr val="A9B4C0"/>
                </a:solidFill>
                <a:latin typeface="Calibri"/>
              </a:rPr>
              <a:t>выполнен</a:t>
            </a:r>
            <a:r>
              <a:rPr sz="1250" b="0" i="1" dirty="0">
                <a:solidFill>
                  <a:srgbClr val="A9B4C0"/>
                </a:solidFill>
                <a:latin typeface="Calibri"/>
              </a:rPr>
              <a:t> </a:t>
            </a:r>
            <a:r>
              <a:rPr sz="1250" b="0" i="1" dirty="0" err="1">
                <a:solidFill>
                  <a:srgbClr val="A9B4C0"/>
                </a:solidFill>
                <a:latin typeface="Calibri"/>
              </a:rPr>
              <a:t>на</a:t>
            </a:r>
            <a:r>
              <a:rPr sz="1250" b="0" i="1" dirty="0">
                <a:solidFill>
                  <a:srgbClr val="A9B4C0"/>
                </a:solidFill>
                <a:latin typeface="Calibri"/>
              </a:rPr>
              <a:t> </a:t>
            </a:r>
            <a:r>
              <a:rPr sz="1250" b="0" i="1" dirty="0" err="1">
                <a:solidFill>
                  <a:srgbClr val="A9B4C0"/>
                </a:solidFill>
                <a:latin typeface="Calibri"/>
              </a:rPr>
              <a:t>открытых</a:t>
            </a:r>
            <a:r>
              <a:rPr sz="1250" b="0" i="1" dirty="0">
                <a:solidFill>
                  <a:srgbClr val="A9B4C0"/>
                </a:solidFill>
                <a:latin typeface="Calibri"/>
              </a:rPr>
              <a:t> </a:t>
            </a:r>
            <a:r>
              <a:rPr sz="1250" b="0" i="1" dirty="0" err="1">
                <a:solidFill>
                  <a:srgbClr val="A9B4C0"/>
                </a:solidFill>
                <a:latin typeface="Calibri"/>
              </a:rPr>
              <a:t>данных</a:t>
            </a:r>
            <a:r>
              <a:rPr sz="1250" b="0" i="1" dirty="0">
                <a:solidFill>
                  <a:srgbClr val="A9B4C0"/>
                </a:solidFill>
                <a:latin typeface="Calibri"/>
              </a:rPr>
              <a:t> X5 </a:t>
            </a:r>
            <a:r>
              <a:rPr sz="1250" b="0" i="1" dirty="0" err="1">
                <a:solidFill>
                  <a:srgbClr val="A9B4C0"/>
                </a:solidFill>
                <a:latin typeface="Calibri"/>
              </a:rPr>
              <a:t>RetailHero</a:t>
            </a:r>
            <a:r>
              <a:rPr sz="1250" b="0" i="1" dirty="0">
                <a:solidFill>
                  <a:srgbClr val="A9B4C0"/>
                </a:solidFill>
                <a:latin typeface="Calibri"/>
              </a:rPr>
              <a:t>. 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00800"/>
            <a:ext cx="12191695" cy="10972"/>
          </a:xfrm>
          <a:prstGeom prst="rect">
            <a:avLst/>
          </a:prstGeom>
          <a:solidFill>
            <a:srgbClr val="2E38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9B4C0"/>
                </a:solidFill>
                <a:latin typeface="Calibri"/>
              </a:rPr>
              <a:t>Uplift Modeling · Junior ML Contest · AI Talent Hub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7175" y="64739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A9B4C0"/>
                </a:solidFill>
                <a:latin typeface="Calibri"/>
              </a:rPr>
              <a:t>02 / 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38912"/>
            <a:ext cx="292608" cy="45720"/>
          </a:xfrm>
          <a:prstGeom prst="rect">
            <a:avLst/>
          </a:prstGeom>
          <a:solidFill>
            <a:srgbClr val="4A7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310896"/>
            <a:ext cx="11185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4A7FAE"/>
                </a:solidFill>
                <a:latin typeface="Calibri"/>
              </a:rPr>
              <a:t>P R O D U C T   T H I N K I N 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3000"/>
              </a:lnSpc>
            </a:pPr>
            <a:r>
              <a:rPr sz="3000" b="1" i="0">
                <a:solidFill>
                  <a:srgbClr val="F2F4F7"/>
                </a:solidFill>
                <a:latin typeface="Calibri"/>
              </a:rPr>
              <a:t>Бизнес-проблема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A9B4C0"/>
                </a:solidFill>
                <a:latin typeface="Calibri"/>
              </a:rPr>
              <a:t>Коммуникация стоит денег — обращаться нужно к тем, кто изменит поведение именно благодаря ей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03120"/>
            <a:ext cx="2590723" cy="3291840"/>
          </a:xfrm>
          <a:prstGeom prst="roundRect">
            <a:avLst>
              <a:gd name="adj" fmla="val 6000"/>
            </a:avLst>
          </a:prstGeom>
          <a:solidFill>
            <a:srgbClr val="1E2530"/>
          </a:solidFill>
          <a:ln w="9525">
            <a:solidFill>
              <a:srgbClr val="2E38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2212848"/>
            <a:ext cx="54864" cy="3072384"/>
          </a:xfrm>
          <a:prstGeom prst="rect">
            <a:avLst/>
          </a:prstGeom>
          <a:solidFill>
            <a:srgbClr val="4A7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58952" y="2249424"/>
            <a:ext cx="2078659" cy="4301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2F4F7"/>
                </a:solidFill>
                <a:latin typeface="Calibri"/>
              </a:rPr>
              <a:t>Стоимость и риск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652141"/>
            <a:ext cx="2078659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A9B4C0"/>
                </a:solidFill>
                <a:latin typeface="Calibri"/>
              </a:rPr>
              <a:t>Отправка SMS стоит денег и может раздражать клиента, поэтому обращаться нужно не ко всем, а к тем, кому это действительно поможет.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7963" y="2103120"/>
            <a:ext cx="2590723" cy="3291840"/>
          </a:xfrm>
          <a:prstGeom prst="roundRect">
            <a:avLst>
              <a:gd name="adj" fmla="val 6000"/>
            </a:avLst>
          </a:prstGeom>
          <a:solidFill>
            <a:srgbClr val="1E2530"/>
          </a:solidFill>
          <a:ln w="9525">
            <a:solidFill>
              <a:srgbClr val="2E38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367963" y="2212848"/>
            <a:ext cx="54864" cy="3072384"/>
          </a:xfrm>
          <a:prstGeom prst="rect">
            <a:avLst/>
          </a:prstGeom>
          <a:solidFill>
            <a:srgbClr val="C99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23995" y="2249424"/>
            <a:ext cx="2078659" cy="668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2F4F7"/>
                </a:solidFill>
                <a:latin typeface="Calibri"/>
              </a:rPr>
              <a:t>Отклик — это не прирост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3995" y="2890266"/>
            <a:ext cx="2078659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A9B4C0"/>
                </a:solidFill>
                <a:latin typeface="Calibri"/>
              </a:rPr>
              <a:t>Модель отклика находит тех, кто и так с высокой вероятностью купит. Из-за этого она выбирает не тех, кому нужна коммуникация, а тех, кто обошёлся бы и без неё.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2103120"/>
            <a:ext cx="2590723" cy="3291840"/>
          </a:xfrm>
          <a:prstGeom prst="roundRect">
            <a:avLst>
              <a:gd name="adj" fmla="val 6000"/>
            </a:avLst>
          </a:prstGeom>
          <a:solidFill>
            <a:srgbClr val="1E2530"/>
          </a:solidFill>
          <a:ln w="9525">
            <a:solidFill>
              <a:srgbClr val="2E38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33007" y="2212848"/>
            <a:ext cx="54864" cy="3072384"/>
          </a:xfrm>
          <a:prstGeom prst="rect">
            <a:avLst/>
          </a:prstGeom>
          <a:solidFill>
            <a:srgbClr val="D4B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89039" y="2249424"/>
            <a:ext cx="2078659" cy="4301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2F4F7"/>
                </a:solidFill>
                <a:latin typeface="Calibri"/>
              </a:rPr>
              <a:t>Причинная оценка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9039" y="2652141"/>
            <a:ext cx="2078659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A9B4C0"/>
                </a:solidFill>
                <a:latin typeface="Calibri"/>
              </a:rPr>
              <a:t>Значит, вместо вероятности покупки нужно оценивать, изменится ли поведение клиента именно благодаря коммуникации.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051" y="2103120"/>
            <a:ext cx="2590723" cy="3291840"/>
          </a:xfrm>
          <a:prstGeom prst="roundRect">
            <a:avLst>
              <a:gd name="adj" fmla="val 6000"/>
            </a:avLst>
          </a:prstGeom>
          <a:solidFill>
            <a:srgbClr val="1E2530"/>
          </a:solidFill>
          <a:ln w="9525">
            <a:solidFill>
              <a:srgbClr val="2E38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098051" y="2212848"/>
            <a:ext cx="54864" cy="3072384"/>
          </a:xfrm>
          <a:prstGeom prst="rect">
            <a:avLst/>
          </a:prstGeom>
          <a:solidFill>
            <a:srgbClr val="5FA3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54083" y="2249424"/>
            <a:ext cx="2078659" cy="4301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2F4F7"/>
                </a:solidFill>
                <a:latin typeface="Calibri"/>
              </a:rPr>
              <a:t>Цель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54083" y="2652141"/>
            <a:ext cx="2078659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A9B4C0"/>
                </a:solidFill>
                <a:latin typeface="Calibri"/>
              </a:rPr>
              <a:t>Тогда при фиксированном бюджете рассылки можно получить максимальный прирост конверсий, а не просто максимум откликов.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00800"/>
            <a:ext cx="12191695" cy="10972"/>
          </a:xfrm>
          <a:prstGeom prst="rect">
            <a:avLst/>
          </a:prstGeom>
          <a:solidFill>
            <a:srgbClr val="2E38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9B4C0"/>
                </a:solidFill>
                <a:latin typeface="Calibri"/>
              </a:rPr>
              <a:t>Uplift Modeling · Junior ML Contest · AI Talent Hub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17175" y="64739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A9B4C0"/>
                </a:solidFill>
                <a:latin typeface="Calibri"/>
              </a:rPr>
              <a:t>03 / 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38912"/>
            <a:ext cx="292608" cy="45720"/>
          </a:xfrm>
          <a:prstGeom prst="rect">
            <a:avLst/>
          </a:prstGeom>
          <a:solidFill>
            <a:srgbClr val="4A7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310896"/>
            <a:ext cx="11185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4A7FAE"/>
                </a:solidFill>
                <a:latin typeface="Calibri"/>
              </a:rPr>
              <a:t>D A T A   S C I E N C 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3000"/>
              </a:lnSpc>
            </a:pPr>
            <a:r>
              <a:rPr sz="3000" b="1" i="0">
                <a:solidFill>
                  <a:srgbClr val="F2F4F7"/>
                </a:solidFill>
                <a:latin typeface="Calibri"/>
              </a:rPr>
              <a:t>X5 RetailHero: данные и постановка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A9B4C0"/>
                </a:solidFill>
                <a:latin typeface="Calibri"/>
              </a:rPr>
              <a:t>Реальный, публичный датасет — потоковая обработка 4.4 ГБ без загрузки в память целиком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03120"/>
            <a:ext cx="2590723" cy="1828800"/>
          </a:xfrm>
          <a:prstGeom prst="roundRect">
            <a:avLst>
              <a:gd name="adj" fmla="val 6000"/>
            </a:avLst>
          </a:prstGeom>
          <a:solidFill>
            <a:srgbClr val="1E2530"/>
          </a:solidFill>
          <a:ln w="9525">
            <a:solidFill>
              <a:srgbClr val="2E38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2194560"/>
            <a:ext cx="54864" cy="1645920"/>
          </a:xfrm>
          <a:prstGeom prst="rect">
            <a:avLst/>
          </a:prstGeom>
          <a:solidFill>
            <a:srgbClr val="4A7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0664" y="2212848"/>
            <a:ext cx="211523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4A7FAE"/>
                </a:solidFill>
                <a:latin typeface="Calibri"/>
              </a:rPr>
              <a:t>400 162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" y="2766567"/>
            <a:ext cx="21152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2F4F7"/>
                </a:solidFill>
                <a:latin typeface="Calibri"/>
              </a:rPr>
              <a:t>клиента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3364991"/>
            <a:ext cx="211523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A9B4C0"/>
                </a:solidFill>
                <a:latin typeface="Calibri"/>
              </a:rPr>
              <a:t>45.8 млн строк истории покупок до кампании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67963" y="2103120"/>
            <a:ext cx="2590723" cy="1828800"/>
          </a:xfrm>
          <a:prstGeom prst="roundRect">
            <a:avLst>
              <a:gd name="adj" fmla="val 6000"/>
            </a:avLst>
          </a:prstGeom>
          <a:solidFill>
            <a:srgbClr val="1E2530"/>
          </a:solidFill>
          <a:ln w="9525">
            <a:solidFill>
              <a:srgbClr val="2E38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367963" y="2194560"/>
            <a:ext cx="54864" cy="1645920"/>
          </a:xfrm>
          <a:prstGeom prst="rect">
            <a:avLst/>
          </a:prstGeom>
          <a:solidFill>
            <a:srgbClr val="C99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05707" y="2212848"/>
            <a:ext cx="211523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C99A4A"/>
                </a:solidFill>
                <a:latin typeface="Calibri"/>
              </a:rPr>
              <a:t>200 039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5707" y="2766567"/>
            <a:ext cx="21152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2F4F7"/>
                </a:solidFill>
                <a:latin typeface="Calibri"/>
              </a:rPr>
              <a:t>с известным откликом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5707" y="3364991"/>
            <a:ext cx="211523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A9B4C0"/>
                </a:solidFill>
                <a:latin typeface="Calibri"/>
              </a:rPr>
              <a:t>группы с коммуникацией и без — примерно поровну (~50/50)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590723" cy="1828800"/>
          </a:xfrm>
          <a:prstGeom prst="roundRect">
            <a:avLst>
              <a:gd name="adj" fmla="val 6000"/>
            </a:avLst>
          </a:prstGeom>
          <a:solidFill>
            <a:srgbClr val="1E2530"/>
          </a:solidFill>
          <a:ln w="9525">
            <a:solidFill>
              <a:srgbClr val="2E38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33007" y="2194560"/>
            <a:ext cx="54864" cy="1645920"/>
          </a:xfrm>
          <a:prstGeom prst="rect">
            <a:avLst/>
          </a:prstGeom>
          <a:solidFill>
            <a:srgbClr val="D4B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70751" y="2212848"/>
            <a:ext cx="211523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D4B876"/>
                </a:solidFill>
                <a:latin typeface="Calibri"/>
              </a:rPr>
              <a:t>+3.3 п.п.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0751" y="2766567"/>
            <a:ext cx="21152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2F4F7"/>
                </a:solidFill>
                <a:latin typeface="Calibri"/>
              </a:rPr>
              <a:t>средний эффект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0751" y="3364991"/>
            <a:ext cx="211523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A9B4C0"/>
                </a:solidFill>
                <a:latin typeface="Calibri"/>
              </a:rPr>
              <a:t>разница отклика между группами — точка отсчёта для всех моделей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103120"/>
            <a:ext cx="2590723" cy="1828800"/>
          </a:xfrm>
          <a:prstGeom prst="roundRect">
            <a:avLst>
              <a:gd name="adj" fmla="val 6000"/>
            </a:avLst>
          </a:prstGeom>
          <a:solidFill>
            <a:srgbClr val="1E2530"/>
          </a:solidFill>
          <a:ln w="9525">
            <a:solidFill>
              <a:srgbClr val="2E38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098051" y="2194560"/>
            <a:ext cx="54864" cy="1645920"/>
          </a:xfrm>
          <a:prstGeom prst="rect">
            <a:avLst/>
          </a:prstGeom>
          <a:solidFill>
            <a:srgbClr val="5FA3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335795" y="2212848"/>
            <a:ext cx="211523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5FA383"/>
                </a:solidFill>
                <a:latin typeface="Calibri"/>
              </a:rPr>
              <a:t>11.2%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35795" y="2766567"/>
            <a:ext cx="21152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2F4F7"/>
                </a:solidFill>
                <a:latin typeface="Calibri"/>
              </a:rPr>
              <a:t>утечка устранена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35795" y="3364991"/>
            <a:ext cx="211523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A9B4C0"/>
                </a:solidFill>
                <a:latin typeface="Calibri"/>
              </a:rPr>
              <a:t>first_redeem_date после отсечки — цензурировано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206240"/>
            <a:ext cx="11185855" cy="1508760"/>
          </a:xfrm>
          <a:prstGeom prst="roundRect">
            <a:avLst>
              <a:gd name="adj" fmla="val 6000"/>
            </a:avLst>
          </a:prstGeom>
          <a:solidFill>
            <a:srgbClr val="1E2530"/>
          </a:solidFill>
          <a:ln w="9525">
            <a:solidFill>
              <a:srgbClr val="2E38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02920" y="4315968"/>
            <a:ext cx="54864" cy="1289304"/>
          </a:xfrm>
          <a:prstGeom prst="rect">
            <a:avLst/>
          </a:prstGeom>
          <a:solidFill>
            <a:srgbClr val="3157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58952" y="4352544"/>
            <a:ext cx="10673791" cy="4301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2F4F7"/>
                </a:solidFill>
                <a:latin typeface="Calibri"/>
              </a:rPr>
              <a:t>Находка: утечка в официальном эталонном решении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" y="4755261"/>
            <a:ext cx="10673791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A9B4C0"/>
                </a:solidFill>
                <a:latin typeface="Calibri"/>
              </a:rPr>
              <a:t>Поле first_redeem_date простирается на 8 месяцев дальше окна истории покупок (отсечка 2019-03-18) — значит, оно частично описывает события ПОСЛЕ коммуникации. Официальное решение соревнования использует его «как есть», поэтому в этом проекте оно цензурировано.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00800"/>
            <a:ext cx="12191695" cy="10972"/>
          </a:xfrm>
          <a:prstGeom prst="rect">
            <a:avLst/>
          </a:prstGeom>
          <a:solidFill>
            <a:srgbClr val="2E38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9B4C0"/>
                </a:solidFill>
                <a:latin typeface="Calibri"/>
              </a:rPr>
              <a:t>Uplift Modeling · Junior ML Contest · AI Talent Hub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17175" y="64739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A9B4C0"/>
                </a:solidFill>
                <a:latin typeface="Calibri"/>
              </a:rPr>
              <a:t>04 / 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38912"/>
            <a:ext cx="292608" cy="45720"/>
          </a:xfrm>
          <a:prstGeom prst="rect">
            <a:avLst/>
          </a:prstGeom>
          <a:solidFill>
            <a:srgbClr val="4A7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310896"/>
            <a:ext cx="11185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4A7FAE"/>
                </a:solidFill>
                <a:latin typeface="Calibri"/>
              </a:rPr>
              <a:t>D A T A   S C I E N C 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3000"/>
              </a:lnSpc>
            </a:pPr>
            <a:r>
              <a:rPr sz="3000" b="1" i="0">
                <a:solidFill>
                  <a:srgbClr val="F2F4F7"/>
                </a:solidFill>
                <a:latin typeface="Calibri"/>
              </a:rPr>
              <a:t>Классические uplift-модели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A9B4C0"/>
                </a:solidFill>
                <a:latin typeface="Calibri"/>
              </a:rPr>
              <a:t>Четыре подхода, один и тот же train/val/holdout сплит и одни и те же метрики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03120"/>
            <a:ext cx="5455767" cy="1600200"/>
          </a:xfrm>
          <a:prstGeom prst="roundRect">
            <a:avLst>
              <a:gd name="adj" fmla="val 6000"/>
            </a:avLst>
          </a:prstGeom>
          <a:solidFill>
            <a:srgbClr val="1E2530"/>
          </a:solidFill>
          <a:ln w="9525">
            <a:solidFill>
              <a:srgbClr val="2E38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2212848"/>
            <a:ext cx="54864" cy="1380744"/>
          </a:xfrm>
          <a:prstGeom prst="rect">
            <a:avLst/>
          </a:prstGeom>
          <a:solidFill>
            <a:srgbClr val="8C83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58952" y="2249424"/>
            <a:ext cx="4943703" cy="332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lang="ru-RU" sz="1550" b="1" dirty="0">
                <a:solidFill>
                  <a:srgbClr val="F2F4F7"/>
                </a:solidFill>
                <a:latin typeface="Calibri"/>
              </a:rPr>
              <a:t>1</a:t>
            </a:r>
            <a:r>
              <a:rPr sz="1550" b="1" i="0" dirty="0">
                <a:solidFill>
                  <a:srgbClr val="F2F4F7"/>
                </a:solidFill>
                <a:latin typeface="Calibri"/>
              </a:rPr>
              <a:t> · Random targeting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660078"/>
            <a:ext cx="4943703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0">
                <a:solidFill>
                  <a:srgbClr val="A9B4C0"/>
                </a:solidFill>
                <a:latin typeface="Calibri"/>
              </a:rPr>
              <a:t>Случайный порядок клиентов — не модель, а точка отсчёта: любая рабочая модель должна её обыграть.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2103120"/>
            <a:ext cx="5455767" cy="1600200"/>
          </a:xfrm>
          <a:prstGeom prst="roundRect">
            <a:avLst>
              <a:gd name="adj" fmla="val 6000"/>
            </a:avLst>
          </a:prstGeom>
          <a:solidFill>
            <a:srgbClr val="1E2530"/>
          </a:solidFill>
          <a:ln w="9525">
            <a:solidFill>
              <a:srgbClr val="2E38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33007" y="2212848"/>
            <a:ext cx="54864" cy="1380744"/>
          </a:xfrm>
          <a:prstGeom prst="rect">
            <a:avLst/>
          </a:prstGeom>
          <a:solidFill>
            <a:srgbClr val="4A7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89039" y="2249424"/>
            <a:ext cx="4943703" cy="332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lang="ru-RU" sz="1550" b="1" dirty="0">
                <a:solidFill>
                  <a:srgbClr val="F2F4F7"/>
                </a:solidFill>
                <a:latin typeface="Calibri"/>
              </a:rPr>
              <a:t>2</a:t>
            </a:r>
            <a:r>
              <a:rPr sz="1550" b="1" i="0" dirty="0">
                <a:solidFill>
                  <a:srgbClr val="F2F4F7"/>
                </a:solidFill>
                <a:latin typeface="Calibri"/>
              </a:rPr>
              <a:t> · Response </a:t>
            </a:r>
            <a:r>
              <a:rPr sz="1550" b="1" i="0" dirty="0" err="1">
                <a:solidFill>
                  <a:srgbClr val="F2F4F7"/>
                </a:solidFill>
                <a:latin typeface="Calibri"/>
              </a:rPr>
              <a:t>CatBoost</a:t>
            </a:r>
            <a:endParaRPr sz="1550" b="1" i="0" dirty="0">
              <a:solidFill>
                <a:srgbClr val="F2F4F7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489039" y="2660078"/>
            <a:ext cx="4943703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0">
                <a:solidFill>
                  <a:srgbClr val="A9B4C0"/>
                </a:solidFill>
                <a:latin typeface="Calibri"/>
              </a:rPr>
              <a:t>Предсказывает P(Y=1|X) — вероятность покупки без учёта коммуникации, а значит, повторяет ту же ошибку, о которой шла речь на слайде 3.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77639"/>
            <a:ext cx="5455767" cy="1600200"/>
          </a:xfrm>
          <a:prstGeom prst="roundRect">
            <a:avLst>
              <a:gd name="adj" fmla="val 6000"/>
            </a:avLst>
          </a:prstGeom>
          <a:solidFill>
            <a:srgbClr val="1E2530"/>
          </a:solidFill>
          <a:ln w="9525">
            <a:solidFill>
              <a:srgbClr val="2E38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02920" y="4087368"/>
            <a:ext cx="54864" cy="1380744"/>
          </a:xfrm>
          <a:prstGeom prst="rect">
            <a:avLst/>
          </a:prstGeom>
          <a:solidFill>
            <a:srgbClr val="C99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58952" y="4123944"/>
            <a:ext cx="4943703" cy="332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lang="ru-RU" sz="1550" b="1" dirty="0">
                <a:solidFill>
                  <a:srgbClr val="F2F4F7"/>
                </a:solidFill>
                <a:latin typeface="Calibri"/>
              </a:rPr>
              <a:t>3</a:t>
            </a:r>
            <a:r>
              <a:rPr sz="1550" b="1" i="0" dirty="0">
                <a:solidFill>
                  <a:srgbClr val="F2F4F7"/>
                </a:solidFill>
                <a:latin typeface="Calibri"/>
              </a:rPr>
              <a:t> · T-Learner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" y="4534598"/>
            <a:ext cx="4943703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0">
                <a:solidFill>
                  <a:srgbClr val="A9B4C0"/>
                </a:solidFill>
                <a:latin typeface="Calibri"/>
              </a:rPr>
              <a:t>Обучает две отдельные CatBoost-модели на группах с коммуникацией и без, а прирост считает как разницу их прогнозов: τ(x) = μ₁(x) − μ₀(x).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3977639"/>
            <a:ext cx="5455767" cy="1600200"/>
          </a:xfrm>
          <a:prstGeom prst="roundRect">
            <a:avLst>
              <a:gd name="adj" fmla="val 6000"/>
            </a:avLst>
          </a:prstGeom>
          <a:solidFill>
            <a:srgbClr val="1E2530"/>
          </a:solidFill>
          <a:ln w="9525">
            <a:solidFill>
              <a:srgbClr val="2E38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233007" y="4087368"/>
            <a:ext cx="54864" cy="1380744"/>
          </a:xfrm>
          <a:prstGeom prst="rect">
            <a:avLst/>
          </a:prstGeom>
          <a:solidFill>
            <a:srgbClr val="5FA3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89039" y="4123944"/>
            <a:ext cx="4943703" cy="332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lang="ru-RU" sz="1550" b="1" dirty="0">
                <a:solidFill>
                  <a:srgbClr val="F2F4F7"/>
                </a:solidFill>
                <a:latin typeface="Calibri"/>
              </a:rPr>
              <a:t>4 </a:t>
            </a:r>
            <a:r>
              <a:rPr sz="1550" b="1" i="0" dirty="0">
                <a:solidFill>
                  <a:srgbClr val="F2F4F7"/>
                </a:solidFill>
                <a:latin typeface="Calibri"/>
              </a:rPr>
              <a:t>· X-Learner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9039" y="4534598"/>
            <a:ext cx="4943703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0">
                <a:solidFill>
                  <a:srgbClr val="A9B4C0"/>
                </a:solidFill>
                <a:latin typeface="Calibri"/>
              </a:rPr>
              <a:t>4-стадийная реализация (Kunzel et al., 2019) — не разность прогнозов, а отдельные модели эффекта с взвешиванием по вероятности коммуникации (propensity).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00800"/>
            <a:ext cx="12191695" cy="10972"/>
          </a:xfrm>
          <a:prstGeom prst="rect">
            <a:avLst/>
          </a:prstGeom>
          <a:solidFill>
            <a:srgbClr val="2E38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9B4C0"/>
                </a:solidFill>
                <a:latin typeface="Calibri"/>
              </a:rPr>
              <a:t>Uplift Modeling · Junior ML Contest · AI Talent Hub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17175" y="64739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A9B4C0"/>
                </a:solidFill>
                <a:latin typeface="Calibri"/>
              </a:rPr>
              <a:t>05 / 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38912"/>
            <a:ext cx="292608" cy="45720"/>
          </a:xfrm>
          <a:prstGeom prst="rect">
            <a:avLst/>
          </a:prstGeom>
          <a:solidFill>
            <a:srgbClr val="4A7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310896"/>
            <a:ext cx="11185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4A7FAE"/>
                </a:solidFill>
                <a:latin typeface="Calibri"/>
              </a:rPr>
              <a:t>D E V E L O P M E N T   &amp;   E N G I N E E R I N 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3000"/>
              </a:lnSpc>
            </a:pPr>
            <a:r>
              <a:rPr sz="3000" b="1" i="0">
                <a:solidFill>
                  <a:srgbClr val="F2F4F7"/>
                </a:solidFill>
                <a:latin typeface="Calibri"/>
              </a:rPr>
              <a:t>Transformer: shared representation, two heads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A9B4C0"/>
                </a:solidFill>
                <a:latin typeface="Calibri"/>
              </a:rPr>
              <a:t>Обязательная модель проекта — работает на сырой последовательности чеков клиента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965960"/>
            <a:ext cx="2423160" cy="914400"/>
          </a:xfrm>
          <a:prstGeom prst="roundRect">
            <a:avLst/>
          </a:prstGeom>
          <a:solidFill>
            <a:srgbClr val="3157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50" b="1">
                <a:solidFill>
                  <a:srgbClr val="F2F4F7"/>
                </a:solidFill>
                <a:latin typeface="Calibri"/>
              </a:rPr>
              <a:t>Последовательность
чеков клиента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44368" y="2322576"/>
            <a:ext cx="164592" cy="201168"/>
          </a:xfrm>
          <a:prstGeom prst="rightArrow">
            <a:avLst/>
          </a:prstGeom>
          <a:solidFill>
            <a:srgbClr val="A9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127248" y="1965960"/>
            <a:ext cx="2423160" cy="914400"/>
          </a:xfrm>
          <a:prstGeom prst="roundRect">
            <a:avLst/>
          </a:prstGeom>
          <a:solidFill>
            <a:srgbClr val="3157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50" b="1">
                <a:solidFill>
                  <a:srgbClr val="F2F4F7"/>
                </a:solidFill>
                <a:latin typeface="Calibri"/>
              </a:rPr>
              <a:t>Эмбеддинги события,
позиции и времени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568696" y="2322576"/>
            <a:ext cx="164592" cy="201168"/>
          </a:xfrm>
          <a:prstGeom prst="rightArrow">
            <a:avLst/>
          </a:prstGeom>
          <a:solidFill>
            <a:srgbClr val="A9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751576" y="1965960"/>
            <a:ext cx="2423160" cy="914400"/>
          </a:xfrm>
          <a:prstGeom prst="roundRect">
            <a:avLst/>
          </a:prstGeom>
          <a:solidFill>
            <a:srgbClr val="3157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50" b="1">
                <a:solidFill>
                  <a:srgbClr val="F2F4F7"/>
                </a:solidFill>
                <a:latin typeface="Calibri"/>
              </a:rPr>
              <a:t>Transformer-
кодировщик (2 слоя)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93023" y="2322576"/>
            <a:ext cx="164592" cy="201168"/>
          </a:xfrm>
          <a:prstGeom prst="rightArrow">
            <a:avLst/>
          </a:prstGeom>
          <a:solidFill>
            <a:srgbClr val="A9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375904" y="1965960"/>
            <a:ext cx="2423160" cy="914400"/>
          </a:xfrm>
          <a:prstGeom prst="roundRect">
            <a:avLst/>
          </a:prstGeom>
          <a:solidFill>
            <a:srgbClr val="5FA3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50" b="1">
                <a:solidFill>
                  <a:srgbClr val="F2F4F7"/>
                </a:solidFill>
                <a:latin typeface="Calibri"/>
              </a:rPr>
              <a:t>Представление
клиента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3246120"/>
            <a:ext cx="2377440" cy="777240"/>
          </a:xfrm>
          <a:prstGeom prst="roundRect">
            <a:avLst/>
          </a:prstGeom>
          <a:solidFill>
            <a:srgbClr val="C99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12161C"/>
                </a:solidFill>
                <a:latin typeface="Calibri"/>
              </a:rPr>
              <a:t>Без коммуникации
μ₀(x)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86600" y="3246120"/>
            <a:ext cx="2377440" cy="777240"/>
          </a:xfrm>
          <a:prstGeom prst="roundRect">
            <a:avLst/>
          </a:prstGeom>
          <a:solidFill>
            <a:srgbClr val="D4B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12161C"/>
                </a:solidFill>
                <a:latin typeface="Calibri"/>
              </a:rPr>
              <a:t>С коммуникацией
μ₁(x)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8412480" y="2907791"/>
            <a:ext cx="201168" cy="237744"/>
          </a:xfrm>
          <a:prstGeom prst="downArrow">
            <a:avLst/>
          </a:prstGeom>
          <a:solidFill>
            <a:srgbClr val="A9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4343400" y="4343400"/>
            <a:ext cx="2377440" cy="640080"/>
          </a:xfrm>
          <a:prstGeom prst="roundRect">
            <a:avLst/>
          </a:prstGeom>
          <a:solidFill>
            <a:srgbClr val="1E2530"/>
          </a:solidFill>
          <a:ln w="15875">
            <a:solidFill>
              <a:srgbClr val="4A7F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2F4F7"/>
                </a:solidFill>
                <a:latin typeface="Calibri"/>
              </a:rPr>
              <a:t>uplift = μ₁(x) − μ₀(x)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166360"/>
            <a:ext cx="11185855" cy="960120"/>
          </a:xfrm>
          <a:prstGeom prst="roundRect">
            <a:avLst>
              <a:gd name="adj" fmla="val 6000"/>
            </a:avLst>
          </a:prstGeom>
          <a:solidFill>
            <a:srgbClr val="1E2530"/>
          </a:solidFill>
          <a:ln w="9525">
            <a:solidFill>
              <a:srgbClr val="2E38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02920" y="5276088"/>
            <a:ext cx="54864" cy="740664"/>
          </a:xfrm>
          <a:prstGeom prst="rect">
            <a:avLst/>
          </a:prstGeom>
          <a:solidFill>
            <a:srgbClr val="4A7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58952" y="5312664"/>
            <a:ext cx="10673791" cy="414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2F4F7"/>
                </a:solidFill>
                <a:latin typeface="Calibri"/>
              </a:rPr>
              <a:t>Единица последовательности — чек, не товарная позиция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1" y="5607815"/>
            <a:ext cx="1067379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 dirty="0" err="1">
                <a:solidFill>
                  <a:srgbClr val="A9B4C0"/>
                </a:solidFill>
                <a:latin typeface="Calibri"/>
              </a:rPr>
              <a:t>Сравнил</a:t>
            </a:r>
            <a:r>
              <a:rPr sz="1200" b="0" i="0" dirty="0">
                <a:solidFill>
                  <a:srgbClr val="A9B4C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A9B4C0"/>
                </a:solidFill>
                <a:latin typeface="Calibri"/>
              </a:rPr>
              <a:t>распределения</a:t>
            </a:r>
            <a:r>
              <a:rPr sz="1200" b="0" i="0" dirty="0">
                <a:solidFill>
                  <a:srgbClr val="A9B4C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A9B4C0"/>
                </a:solidFill>
                <a:latin typeface="Calibri"/>
              </a:rPr>
              <a:t>длин</a:t>
            </a:r>
            <a:r>
              <a:rPr sz="1200" b="0" i="0" dirty="0">
                <a:solidFill>
                  <a:srgbClr val="A9B4C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A9B4C0"/>
                </a:solidFill>
                <a:latin typeface="Calibri"/>
              </a:rPr>
              <a:t>по</a:t>
            </a:r>
            <a:r>
              <a:rPr sz="1200" b="0" i="0" dirty="0">
                <a:solidFill>
                  <a:srgbClr val="A9B4C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A9B4C0"/>
                </a:solidFill>
                <a:latin typeface="Calibri"/>
              </a:rPr>
              <a:t>трём</a:t>
            </a:r>
            <a:r>
              <a:rPr sz="1200" b="0" i="0" dirty="0">
                <a:solidFill>
                  <a:srgbClr val="A9B4C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A9B4C0"/>
                </a:solidFill>
                <a:latin typeface="Calibri"/>
              </a:rPr>
              <a:t>уровням</a:t>
            </a:r>
            <a:r>
              <a:rPr sz="1200" b="0" i="0" dirty="0">
                <a:solidFill>
                  <a:srgbClr val="A9B4C0"/>
                </a:solidFill>
                <a:latin typeface="Calibri"/>
              </a:rPr>
              <a:t>: </a:t>
            </a:r>
            <a:r>
              <a:rPr sz="1200" b="0" i="0" dirty="0" err="1">
                <a:solidFill>
                  <a:srgbClr val="A9B4C0"/>
                </a:solidFill>
                <a:latin typeface="Calibri"/>
              </a:rPr>
              <a:t>на</a:t>
            </a:r>
            <a:r>
              <a:rPr sz="1200" b="0" i="0" dirty="0">
                <a:solidFill>
                  <a:srgbClr val="A9B4C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A9B4C0"/>
                </a:solidFill>
                <a:latin typeface="Calibri"/>
              </a:rPr>
              <a:t>товарном</a:t>
            </a:r>
            <a:r>
              <a:rPr sz="1200" b="0" i="0" dirty="0">
                <a:solidFill>
                  <a:srgbClr val="A9B4C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A9B4C0"/>
                </a:solidFill>
                <a:latin typeface="Calibri"/>
              </a:rPr>
              <a:t>истории</a:t>
            </a:r>
            <a:r>
              <a:rPr sz="1200" b="0" i="0" dirty="0">
                <a:solidFill>
                  <a:srgbClr val="A9B4C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A9B4C0"/>
                </a:solidFill>
                <a:latin typeface="Calibri"/>
              </a:rPr>
              <a:t>оказались</a:t>
            </a:r>
            <a:r>
              <a:rPr sz="1200" b="0" i="0" dirty="0">
                <a:solidFill>
                  <a:srgbClr val="A9B4C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A9B4C0"/>
                </a:solidFill>
                <a:latin typeface="Calibri"/>
              </a:rPr>
              <a:t>слишком</a:t>
            </a:r>
            <a:r>
              <a:rPr sz="1200" b="0" i="0" dirty="0">
                <a:solidFill>
                  <a:srgbClr val="A9B4C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A9B4C0"/>
                </a:solidFill>
                <a:latin typeface="Calibri"/>
              </a:rPr>
              <a:t>длинными</a:t>
            </a:r>
            <a:r>
              <a:rPr sz="1200" b="0" i="0" dirty="0">
                <a:solidFill>
                  <a:srgbClr val="A9B4C0"/>
                </a:solidFill>
                <a:latin typeface="Calibri"/>
              </a:rPr>
              <a:t> (p95=312, max=2513) — </a:t>
            </a:r>
            <a:r>
              <a:rPr sz="1200" b="0" i="0" dirty="0" err="1">
                <a:solidFill>
                  <a:srgbClr val="A9B4C0"/>
                </a:solidFill>
                <a:latin typeface="Calibri"/>
              </a:rPr>
              <a:t>поэтому</a:t>
            </a:r>
            <a:r>
              <a:rPr sz="1200" b="0" i="0" dirty="0">
                <a:solidFill>
                  <a:srgbClr val="A9B4C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A9B4C0"/>
                </a:solidFill>
                <a:latin typeface="Calibri"/>
              </a:rPr>
              <a:t>выбрал</a:t>
            </a:r>
            <a:r>
              <a:rPr sz="1200" b="0" i="0" dirty="0">
                <a:solidFill>
                  <a:srgbClr val="A9B4C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A9B4C0"/>
                </a:solidFill>
                <a:latin typeface="Calibri"/>
              </a:rPr>
              <a:t>чек</a:t>
            </a:r>
            <a:r>
              <a:rPr sz="1200" b="0" i="0" dirty="0">
                <a:solidFill>
                  <a:srgbClr val="A9B4C0"/>
                </a:solidFill>
                <a:latin typeface="Calibri"/>
              </a:rPr>
              <a:t>: </a:t>
            </a:r>
            <a:r>
              <a:rPr sz="1200" b="0" i="0" dirty="0" err="1">
                <a:solidFill>
                  <a:srgbClr val="A9B4C0"/>
                </a:solidFill>
                <a:latin typeface="Calibri"/>
              </a:rPr>
              <a:t>он</a:t>
            </a:r>
            <a:r>
              <a:rPr sz="1200" b="0" i="0" dirty="0">
                <a:solidFill>
                  <a:srgbClr val="A9B4C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A9B4C0"/>
                </a:solidFill>
                <a:latin typeface="Calibri"/>
              </a:rPr>
              <a:t>компактнее</a:t>
            </a:r>
            <a:r>
              <a:rPr sz="1200" b="0" i="0" dirty="0">
                <a:solidFill>
                  <a:srgbClr val="A9B4C0"/>
                </a:solidFill>
                <a:latin typeface="Calibri"/>
              </a:rPr>
              <a:t> (p95=54) и </a:t>
            </a:r>
            <a:r>
              <a:rPr sz="1200" b="0" i="0" dirty="0" err="1">
                <a:solidFill>
                  <a:srgbClr val="A9B4C0"/>
                </a:solidFill>
                <a:latin typeface="Calibri"/>
              </a:rPr>
              <a:t>при</a:t>
            </a:r>
            <a:r>
              <a:rPr sz="1200" b="0" i="0" dirty="0">
                <a:solidFill>
                  <a:srgbClr val="A9B4C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A9B4C0"/>
                </a:solidFill>
                <a:latin typeface="Calibri"/>
              </a:rPr>
              <a:t>этом</a:t>
            </a:r>
            <a:r>
              <a:rPr sz="1200" b="0" i="0" dirty="0">
                <a:solidFill>
                  <a:srgbClr val="A9B4C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A9B4C0"/>
                </a:solidFill>
                <a:latin typeface="Calibri"/>
              </a:rPr>
              <a:t>сохраняет</a:t>
            </a:r>
            <a:r>
              <a:rPr sz="1200" b="0" i="0" dirty="0">
                <a:solidFill>
                  <a:srgbClr val="A9B4C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A9B4C0"/>
                </a:solidFill>
                <a:latin typeface="Calibri"/>
              </a:rPr>
              <a:t>реальную</a:t>
            </a:r>
            <a:r>
              <a:rPr sz="1200" b="0" i="0" dirty="0">
                <a:solidFill>
                  <a:srgbClr val="A9B4C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A9B4C0"/>
                </a:solidFill>
                <a:latin typeface="Calibri"/>
              </a:rPr>
              <a:t>гранулярность</a:t>
            </a:r>
            <a:r>
              <a:rPr sz="1200" b="0" i="0" dirty="0">
                <a:solidFill>
                  <a:srgbClr val="A9B4C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A9B4C0"/>
                </a:solidFill>
                <a:latin typeface="Calibri"/>
              </a:rPr>
              <a:t>похода</a:t>
            </a:r>
            <a:r>
              <a:rPr sz="1200" b="0" i="0" dirty="0">
                <a:solidFill>
                  <a:srgbClr val="A9B4C0"/>
                </a:solidFill>
                <a:latin typeface="Calibri"/>
              </a:rPr>
              <a:t> в </a:t>
            </a:r>
            <a:r>
              <a:rPr sz="1200" b="0" i="0" dirty="0" err="1">
                <a:solidFill>
                  <a:srgbClr val="A9B4C0"/>
                </a:solidFill>
                <a:latin typeface="Calibri"/>
              </a:rPr>
              <a:t>магазин</a:t>
            </a:r>
            <a:r>
              <a:rPr sz="1200" b="0" i="0" dirty="0">
                <a:solidFill>
                  <a:srgbClr val="A9B4C0"/>
                </a:solidFill>
                <a:latin typeface="Calibri"/>
              </a:rPr>
              <a:t>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00800"/>
            <a:ext cx="12191695" cy="10972"/>
          </a:xfrm>
          <a:prstGeom prst="rect">
            <a:avLst/>
          </a:prstGeom>
          <a:solidFill>
            <a:srgbClr val="2E38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9B4C0"/>
                </a:solidFill>
                <a:latin typeface="Calibri"/>
              </a:rPr>
              <a:t>Uplift Modeling · Junior ML Contest · AI Talent Hub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7175" y="64739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A9B4C0"/>
                </a:solidFill>
                <a:latin typeface="Calibri"/>
              </a:rPr>
              <a:t>06 / 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38912"/>
            <a:ext cx="292608" cy="45720"/>
          </a:xfrm>
          <a:prstGeom prst="rect">
            <a:avLst/>
          </a:prstGeom>
          <a:solidFill>
            <a:srgbClr val="4A7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310896"/>
            <a:ext cx="11185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4A7FAE"/>
                </a:solidFill>
                <a:latin typeface="Calibri"/>
              </a:rPr>
              <a:t>D A T A   S C I E N C E   ·   R E S U L T 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3000"/>
              </a:lnSpc>
            </a:pPr>
            <a:r>
              <a:rPr sz="3000" b="1" i="0">
                <a:solidFill>
                  <a:srgbClr val="F2F4F7"/>
                </a:solidFill>
                <a:latin typeface="Calibri"/>
              </a:rPr>
              <a:t>Результаты на отложенной выборке (n = 40 011)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111858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A9B4C0"/>
                </a:solidFill>
                <a:latin typeface="Calibri"/>
              </a:rPr>
              <a:t>Единая метрика для всех моделей: src/uplift_metrics.py, 9 unit-тестов</a:t>
            </a:r>
          </a:p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A9B4C0"/>
                </a:solidFill>
                <a:latin typeface="Calibri"/>
              </a:rPr>
              <a:t>Qini/AUUC: 0 — модель не лучше случайного порядка; больше — точнее находит нужных клиентов; отрицательное — модель вредит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2514600"/>
          <a:ext cx="5486400" cy="2339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3380"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2F4F7"/>
                          </a:solidFill>
                          <a:latin typeface="Calibri"/>
                        </a:rPr>
                        <a:t>Модель</a:t>
                      </a:r>
                    </a:p>
                  </a:txBody>
                  <a:tcPr>
                    <a:solidFill>
                      <a:srgbClr val="4A7FA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2F4F7"/>
                          </a:solidFill>
                          <a:latin typeface="Calibri"/>
                        </a:rPr>
                        <a:t>Qini</a:t>
                      </a:r>
                    </a:p>
                  </a:txBody>
                  <a:tcPr>
                    <a:solidFill>
                      <a:srgbClr val="4A7FA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2F4F7"/>
                          </a:solidFill>
                          <a:latin typeface="Calibri"/>
                        </a:rPr>
                        <a:t>AUUC</a:t>
                      </a:r>
                    </a:p>
                  </a:txBody>
                  <a:tcPr>
                    <a:solidFill>
                      <a:srgbClr val="4A7FA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2F4F7"/>
                          </a:solidFill>
                          <a:latin typeface="Calibri"/>
                        </a:rPr>
                        <a:t>uplift@30%</a:t>
                      </a:r>
                    </a:p>
                  </a:txBody>
                  <a:tcPr>
                    <a:solidFill>
                      <a:srgbClr val="4A7FA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3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2F4F7"/>
                          </a:solidFill>
                          <a:latin typeface="Calibri"/>
                        </a:rPr>
                        <a:t>X-Learner</a:t>
                      </a:r>
                    </a:p>
                  </a:txBody>
                  <a:tcPr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4A7FAE"/>
                          </a:solidFill>
                          <a:latin typeface="Calibri"/>
                        </a:rPr>
                        <a:t>0.0042</a:t>
                      </a:r>
                    </a:p>
                  </a:txBody>
                  <a:tcPr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2F4F7"/>
                          </a:solidFill>
                          <a:latin typeface="Calibri"/>
                        </a:rPr>
                        <a:t>0.0125</a:t>
                      </a:r>
                    </a:p>
                  </a:txBody>
                  <a:tcPr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2F4F7"/>
                          </a:solidFill>
                          <a:latin typeface="Calibri"/>
                        </a:rPr>
                        <a:t>0.0755</a:t>
                      </a:r>
                    </a:p>
                  </a:txBody>
                  <a:tcPr>
                    <a:solidFill>
                      <a:srgbClr val="1E2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38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F2F4F7"/>
                          </a:solidFill>
                          <a:latin typeface="Calibri"/>
                        </a:rPr>
                        <a:t>T-Learner</a:t>
                      </a:r>
                    </a:p>
                  </a:txBody>
                  <a:tcPr>
                    <a:solidFill>
                      <a:srgbClr val="181E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F2F4F7"/>
                          </a:solidFill>
                          <a:latin typeface="Calibri"/>
                        </a:rPr>
                        <a:t>0.0037</a:t>
                      </a:r>
                    </a:p>
                  </a:txBody>
                  <a:tcPr>
                    <a:solidFill>
                      <a:srgbClr val="181E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F2F4F7"/>
                          </a:solidFill>
                          <a:latin typeface="Calibri"/>
                        </a:rPr>
                        <a:t>0.0120</a:t>
                      </a:r>
                    </a:p>
                  </a:txBody>
                  <a:tcPr>
                    <a:solidFill>
                      <a:srgbClr val="181E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F2F4F7"/>
                          </a:solidFill>
                          <a:latin typeface="Calibri"/>
                        </a:rPr>
                        <a:t>0.0639</a:t>
                      </a:r>
                    </a:p>
                  </a:txBody>
                  <a:tcPr>
                    <a:solidFill>
                      <a:srgbClr val="181E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38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F2F4F7"/>
                          </a:solidFill>
                          <a:latin typeface="Calibri"/>
                        </a:rPr>
                        <a:t>Transformer</a:t>
                      </a:r>
                    </a:p>
                  </a:txBody>
                  <a:tcPr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F2F4F7"/>
                          </a:solidFill>
                          <a:latin typeface="Calibri"/>
                        </a:rPr>
                        <a:t>0.0017</a:t>
                      </a:r>
                    </a:p>
                  </a:txBody>
                  <a:tcPr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F2F4F7"/>
                          </a:solidFill>
                          <a:latin typeface="Calibri"/>
                        </a:rPr>
                        <a:t>0.0100</a:t>
                      </a:r>
                    </a:p>
                  </a:txBody>
                  <a:tcPr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F2F4F7"/>
                          </a:solidFill>
                          <a:latin typeface="Calibri"/>
                        </a:rPr>
                        <a:t>0.0481</a:t>
                      </a:r>
                    </a:p>
                  </a:txBody>
                  <a:tcPr>
                    <a:solidFill>
                      <a:srgbClr val="1E2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38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F2F4F7"/>
                          </a:solidFill>
                          <a:latin typeface="Calibri"/>
                        </a:rPr>
                        <a:t>Random</a:t>
                      </a:r>
                    </a:p>
                  </a:txBody>
                  <a:tcPr>
                    <a:solidFill>
                      <a:srgbClr val="181E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F2F4F7"/>
                          </a:solidFill>
                          <a:latin typeface="Calibri"/>
                        </a:rPr>
                        <a:t>0.0007</a:t>
                      </a:r>
                    </a:p>
                  </a:txBody>
                  <a:tcPr>
                    <a:solidFill>
                      <a:srgbClr val="181E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F2F4F7"/>
                          </a:solidFill>
                          <a:latin typeface="Calibri"/>
                        </a:rPr>
                        <a:t>0.0090</a:t>
                      </a:r>
                    </a:p>
                  </a:txBody>
                  <a:tcPr>
                    <a:solidFill>
                      <a:srgbClr val="181E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F2F4F7"/>
                          </a:solidFill>
                          <a:latin typeface="Calibri"/>
                        </a:rPr>
                        <a:t>0.0374</a:t>
                      </a:r>
                    </a:p>
                  </a:txBody>
                  <a:tcPr>
                    <a:solidFill>
                      <a:srgbClr val="181E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38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F2F4F7"/>
                          </a:solidFill>
                          <a:latin typeface="Calibri"/>
                        </a:rPr>
                        <a:t>Response CatBoost</a:t>
                      </a:r>
                    </a:p>
                  </a:txBody>
                  <a:tcPr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C4685F"/>
                          </a:solidFill>
                          <a:latin typeface="Calibri"/>
                        </a:rPr>
                        <a:t>-0.0015</a:t>
                      </a:r>
                    </a:p>
                  </a:txBody>
                  <a:tcPr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F2F4F7"/>
                          </a:solidFill>
                          <a:latin typeface="Calibri"/>
                        </a:rPr>
                        <a:t>0.0068</a:t>
                      </a:r>
                    </a:p>
                  </a:txBody>
                  <a:tcPr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F2F4F7"/>
                          </a:solidFill>
                          <a:latin typeface="Calibri"/>
                        </a:rPr>
                        <a:t>0.0219</a:t>
                      </a:r>
                    </a:p>
                  </a:txBody>
                  <a:tcPr>
                    <a:solidFill>
                      <a:srgbClr val="1E2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7" name="Picture 6" descr="presentation_qini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4140" y="2514600"/>
            <a:ext cx="5059680" cy="37947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484632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1E2530"/>
          </a:solidFill>
          <a:ln w="9525">
            <a:solidFill>
              <a:srgbClr val="2E38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4956048"/>
            <a:ext cx="54864" cy="1243584"/>
          </a:xfrm>
          <a:prstGeom prst="rect">
            <a:avLst/>
          </a:prstGeom>
          <a:solidFill>
            <a:srgbClr val="3157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58952" y="4992624"/>
            <a:ext cx="4974336" cy="406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F2F4F7"/>
                </a:solidFill>
                <a:latin typeface="Calibri"/>
              </a:rPr>
              <a:t>Главный вывод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5371528"/>
            <a:ext cx="497433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A9B4C0"/>
                </a:solidFill>
                <a:latin typeface="Calibri"/>
              </a:rPr>
              <a:t>Порядок X-Learner &gt; T-Learner &gt; Transformer &gt; Random &gt; Response одинаков по всем трём метрикам — не случайность одного показателя. Модель отклика значимо ХУЖЕ случайного распределения: весь ДИ Qini отрицательный.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00800"/>
            <a:ext cx="12191695" cy="10972"/>
          </a:xfrm>
          <a:prstGeom prst="rect">
            <a:avLst/>
          </a:prstGeom>
          <a:solidFill>
            <a:srgbClr val="2E38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9B4C0"/>
                </a:solidFill>
                <a:latin typeface="Calibri"/>
              </a:rPr>
              <a:t>Uplift Modeling · Junior ML Contest · AI Talent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17175" y="64739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A9B4C0"/>
                </a:solidFill>
                <a:latin typeface="Calibri"/>
              </a:rPr>
              <a:t>07 / 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38912"/>
            <a:ext cx="292608" cy="45720"/>
          </a:xfrm>
          <a:prstGeom prst="rect">
            <a:avLst/>
          </a:prstGeom>
          <a:solidFill>
            <a:srgbClr val="4A7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310896"/>
            <a:ext cx="11185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4A7FAE"/>
                </a:solidFill>
                <a:latin typeface="Calibri"/>
              </a:rPr>
              <a:t>P R O D U C T   T H I N K I N 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3000"/>
              </a:lnSpc>
            </a:pPr>
            <a:r>
              <a:rPr sz="3000" b="1" i="0">
                <a:solidFill>
                  <a:srgbClr val="F2F4F7"/>
                </a:solidFill>
                <a:latin typeface="Calibri"/>
              </a:rPr>
              <a:t>Бизнес-эффект (сценарий) и A/B-тест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A9B4C0"/>
                </a:solidFill>
                <a:latin typeface="Calibri"/>
              </a:rPr>
              <a:t>Офлайн Qini/AUUC — не доказательство реального бизнес-эффекта</a:t>
            </a:r>
          </a:p>
        </p:txBody>
      </p:sp>
      <p:pic>
        <p:nvPicPr>
          <p:cNvPr id="6" name="Picture 5" descr="presentation_business_ev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011680"/>
            <a:ext cx="5547360" cy="4160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37959" y="2011680"/>
            <a:ext cx="5150815" cy="1325880"/>
          </a:xfrm>
          <a:prstGeom prst="roundRect">
            <a:avLst>
              <a:gd name="adj" fmla="val 6000"/>
            </a:avLst>
          </a:prstGeom>
          <a:solidFill>
            <a:srgbClr val="1E2530"/>
          </a:solidFill>
          <a:ln w="9525">
            <a:solidFill>
              <a:srgbClr val="2E38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537959" y="2121408"/>
            <a:ext cx="54864" cy="1106424"/>
          </a:xfrm>
          <a:prstGeom prst="rect">
            <a:avLst/>
          </a:prstGeom>
          <a:solidFill>
            <a:srgbClr val="C99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793992" y="2157984"/>
            <a:ext cx="4638751" cy="414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2F4F7"/>
                </a:solidFill>
                <a:latin typeface="Calibri"/>
              </a:rPr>
              <a:t>Сценарий, не факт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93992" y="2544826"/>
            <a:ext cx="4638751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 i="0">
                <a:solidFill>
                  <a:srgbClr val="A9B4C0"/>
                </a:solidFill>
                <a:latin typeface="Calibri"/>
              </a:rPr>
              <a:t>Чтобы перевести ранжирование в деньги, я задал иллюстративные допущения — маржа 300₽, стоимость SMS 5₽. Это метод, а не факты X5 или Т-Банка.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37959" y="3474720"/>
            <a:ext cx="5150815" cy="1325880"/>
          </a:xfrm>
          <a:prstGeom prst="roundRect">
            <a:avLst>
              <a:gd name="adj" fmla="val 6000"/>
            </a:avLst>
          </a:prstGeom>
          <a:solidFill>
            <a:srgbClr val="1E2530"/>
          </a:solidFill>
          <a:ln w="9525">
            <a:solidFill>
              <a:srgbClr val="2E38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537959" y="3584448"/>
            <a:ext cx="54864" cy="1106424"/>
          </a:xfrm>
          <a:prstGeom prst="rect">
            <a:avLst/>
          </a:prstGeom>
          <a:solidFill>
            <a:srgbClr val="5FA3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93992" y="3621024"/>
            <a:ext cx="4638751" cy="414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2F4F7"/>
                </a:solidFill>
                <a:latin typeface="Calibri"/>
              </a:rPr>
              <a:t>Лучший результат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93992" y="4007866"/>
            <a:ext cx="4638751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 i="0">
                <a:solidFill>
                  <a:srgbClr val="A9B4C0"/>
                </a:solidFill>
                <a:latin typeface="Calibri"/>
              </a:rPr>
              <a:t>При этих допущениях наибольший ожидаемый эффект даёт X-Learner — на охвате примерно 57% аудитории.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59" y="4937760"/>
            <a:ext cx="5150815" cy="1325880"/>
          </a:xfrm>
          <a:prstGeom prst="roundRect">
            <a:avLst>
              <a:gd name="adj" fmla="val 6000"/>
            </a:avLst>
          </a:prstGeom>
          <a:solidFill>
            <a:srgbClr val="1E2530"/>
          </a:solidFill>
          <a:ln w="9525">
            <a:solidFill>
              <a:srgbClr val="2E38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537959" y="5047488"/>
            <a:ext cx="54864" cy="1106424"/>
          </a:xfrm>
          <a:prstGeom prst="rect">
            <a:avLst/>
          </a:prstGeom>
          <a:solidFill>
            <a:srgbClr val="4A7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93992" y="5084064"/>
            <a:ext cx="4638751" cy="414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2F4F7"/>
                </a:solidFill>
                <a:latin typeface="Calibri"/>
              </a:rPr>
              <a:t>Перед внедрением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93992" y="5470906"/>
            <a:ext cx="4638751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 i="0">
                <a:solidFill>
                  <a:srgbClr val="A9B4C0"/>
                </a:solidFill>
                <a:latin typeface="Calibri"/>
              </a:rPr>
              <a:t>Офлайн-метрики этого не доказывают, поэтому нужен онлайн A/B-эксперимент с защитными метриками и оценкой минимального эффекта.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00800"/>
            <a:ext cx="12191695" cy="10972"/>
          </a:xfrm>
          <a:prstGeom prst="rect">
            <a:avLst/>
          </a:prstGeom>
          <a:solidFill>
            <a:srgbClr val="2E38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9B4C0"/>
                </a:solidFill>
                <a:latin typeface="Calibri"/>
              </a:rPr>
              <a:t>Uplift Modeling · Junior ML Contest · AI Talent Hub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17175" y="64739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A9B4C0"/>
                </a:solidFill>
                <a:latin typeface="Calibri"/>
              </a:rPr>
              <a:t>08 / 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38912"/>
            <a:ext cx="292608" cy="45720"/>
          </a:xfrm>
          <a:prstGeom prst="rect">
            <a:avLst/>
          </a:prstGeom>
          <a:solidFill>
            <a:srgbClr val="D4B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310896"/>
            <a:ext cx="11185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D4B876"/>
                </a:solidFill>
                <a:latin typeface="Calibri"/>
              </a:rPr>
              <a:t>И Т О 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3000"/>
              </a:lnSpc>
            </a:pPr>
            <a:r>
              <a:rPr sz="3000" b="1" i="0">
                <a:solidFill>
                  <a:srgbClr val="F2F4F7"/>
                </a:solidFill>
                <a:latin typeface="Calibri"/>
              </a:rPr>
              <a:t>Выводы и ограничения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A9B4C0"/>
                </a:solidFill>
                <a:latin typeface="Calibri"/>
              </a:rPr>
              <a:t>Ранжирование моделей согласовано по всем метрикам, оба ключевых вывода подтверждены доверительными интервалами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03120"/>
            <a:ext cx="2590723" cy="3291840"/>
          </a:xfrm>
          <a:prstGeom prst="roundRect">
            <a:avLst>
              <a:gd name="adj" fmla="val 6000"/>
            </a:avLst>
          </a:prstGeom>
          <a:solidFill>
            <a:srgbClr val="1E2530"/>
          </a:solidFill>
          <a:ln w="9525">
            <a:solidFill>
              <a:srgbClr val="2E38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2212848"/>
            <a:ext cx="54864" cy="3072384"/>
          </a:xfrm>
          <a:prstGeom prst="rect">
            <a:avLst/>
          </a:prstGeom>
          <a:solidFill>
            <a:srgbClr val="4A7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58952" y="2249424"/>
            <a:ext cx="2078659" cy="414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2F4F7"/>
                </a:solidFill>
                <a:latin typeface="Calibri"/>
              </a:rPr>
              <a:t>Ранжирование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636266"/>
            <a:ext cx="2078659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 i="0">
                <a:solidFill>
                  <a:srgbClr val="A9B4C0"/>
                </a:solidFill>
                <a:latin typeface="Calibri"/>
              </a:rPr>
              <a:t>X-Learner &gt; T-Learner &gt; Transformer &gt; Random &gt; Response — согласовано по Qini, AUUC, uplift@30%.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7963" y="2103120"/>
            <a:ext cx="2590723" cy="3291840"/>
          </a:xfrm>
          <a:prstGeom prst="roundRect">
            <a:avLst>
              <a:gd name="adj" fmla="val 6000"/>
            </a:avLst>
          </a:prstGeom>
          <a:solidFill>
            <a:srgbClr val="1E2530"/>
          </a:solidFill>
          <a:ln w="9525">
            <a:solidFill>
              <a:srgbClr val="2E38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367963" y="2212848"/>
            <a:ext cx="54864" cy="3072384"/>
          </a:xfrm>
          <a:prstGeom prst="rect">
            <a:avLst/>
          </a:prstGeom>
          <a:solidFill>
            <a:srgbClr val="C99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23995" y="2249424"/>
            <a:ext cx="2078659" cy="414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2F4F7"/>
                </a:solidFill>
                <a:latin typeface="Calibri"/>
              </a:rPr>
              <a:t>Отклик вреден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3995" y="2636266"/>
            <a:ext cx="2078659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 i="0">
                <a:solidFill>
                  <a:srgbClr val="A9B4C0"/>
                </a:solidFill>
                <a:latin typeface="Calibri"/>
              </a:rPr>
              <a:t>Доверительный интервал Qini для модели отклика целиком отрицательный — значит, она не просто не помогает, а систематически хуже случайного распределения.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2103120"/>
            <a:ext cx="2590723" cy="3291840"/>
          </a:xfrm>
          <a:prstGeom prst="roundRect">
            <a:avLst>
              <a:gd name="adj" fmla="val 6000"/>
            </a:avLst>
          </a:prstGeom>
          <a:solidFill>
            <a:srgbClr val="1E2530"/>
          </a:solidFill>
          <a:ln w="9525">
            <a:solidFill>
              <a:srgbClr val="2E38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33007" y="2212848"/>
            <a:ext cx="54864" cy="3072384"/>
          </a:xfrm>
          <a:prstGeom prst="rect">
            <a:avLst/>
          </a:prstGeom>
          <a:solidFill>
            <a:srgbClr val="D4B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89039" y="2249424"/>
            <a:ext cx="2078659" cy="6365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2F4F7"/>
                </a:solidFill>
                <a:latin typeface="Calibri"/>
              </a:rPr>
              <a:t>Transformer уступает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2672" y="2663698"/>
            <a:ext cx="2078659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 i="0" dirty="0">
                <a:solidFill>
                  <a:srgbClr val="A9B4C0"/>
                </a:solidFill>
                <a:latin typeface="Calibri"/>
              </a:rPr>
              <a:t>ДИ </a:t>
            </a:r>
            <a:r>
              <a:rPr sz="1250" b="0" i="0" dirty="0" err="1">
                <a:solidFill>
                  <a:srgbClr val="A9B4C0"/>
                </a:solidFill>
                <a:latin typeface="Calibri"/>
              </a:rPr>
              <a:t>не</a:t>
            </a:r>
            <a:r>
              <a:rPr sz="1250" b="0" i="0" dirty="0">
                <a:solidFill>
                  <a:srgbClr val="A9B4C0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A9B4C0"/>
                </a:solidFill>
                <a:latin typeface="Calibri"/>
              </a:rPr>
              <a:t>пересекает</a:t>
            </a:r>
            <a:r>
              <a:rPr sz="1250" b="0" i="0" dirty="0">
                <a:solidFill>
                  <a:srgbClr val="A9B4C0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A9B4C0"/>
                </a:solidFill>
                <a:latin typeface="Calibri"/>
              </a:rPr>
              <a:t>ноль</a:t>
            </a:r>
            <a:r>
              <a:rPr sz="1250" b="0" i="0" dirty="0">
                <a:solidFill>
                  <a:srgbClr val="A9B4C0"/>
                </a:solidFill>
                <a:latin typeface="Calibri"/>
              </a:rPr>
              <a:t>, </a:t>
            </a:r>
            <a:r>
              <a:rPr sz="1250" b="0" i="0" dirty="0" err="1">
                <a:solidFill>
                  <a:srgbClr val="A9B4C0"/>
                </a:solidFill>
                <a:latin typeface="Calibri"/>
              </a:rPr>
              <a:t>значит</a:t>
            </a:r>
            <a:r>
              <a:rPr sz="1250" b="0" i="0" dirty="0">
                <a:solidFill>
                  <a:srgbClr val="A9B4C0"/>
                </a:solidFill>
                <a:latin typeface="Calibri"/>
              </a:rPr>
              <a:t>, </a:t>
            </a:r>
            <a:r>
              <a:rPr sz="1250" b="0" i="0" dirty="0" err="1">
                <a:solidFill>
                  <a:srgbClr val="A9B4C0"/>
                </a:solidFill>
                <a:latin typeface="Calibri"/>
              </a:rPr>
              <a:t>модель</a:t>
            </a:r>
            <a:r>
              <a:rPr sz="1250" b="0" i="0" dirty="0">
                <a:solidFill>
                  <a:srgbClr val="A9B4C0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A9B4C0"/>
                </a:solidFill>
                <a:latin typeface="Calibri"/>
              </a:rPr>
              <a:t>значимо</a:t>
            </a:r>
            <a:r>
              <a:rPr sz="1250" b="0" i="0" dirty="0">
                <a:solidFill>
                  <a:srgbClr val="A9B4C0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A9B4C0"/>
                </a:solidFill>
                <a:latin typeface="Calibri"/>
              </a:rPr>
              <a:t>лучше</a:t>
            </a:r>
            <a:r>
              <a:rPr sz="1250" b="0" i="0" dirty="0">
                <a:solidFill>
                  <a:srgbClr val="A9B4C0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A9B4C0"/>
                </a:solidFill>
                <a:latin typeface="Calibri"/>
              </a:rPr>
              <a:t>случайного</a:t>
            </a:r>
            <a:r>
              <a:rPr sz="1250" b="0" i="0" dirty="0">
                <a:solidFill>
                  <a:srgbClr val="A9B4C0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A9B4C0"/>
                </a:solidFill>
                <a:latin typeface="Calibri"/>
              </a:rPr>
              <a:t>распределения</a:t>
            </a:r>
            <a:r>
              <a:rPr sz="1250" b="0" i="0" dirty="0">
                <a:solidFill>
                  <a:srgbClr val="A9B4C0"/>
                </a:solidFill>
                <a:latin typeface="Calibri"/>
              </a:rPr>
              <a:t> — </a:t>
            </a:r>
            <a:r>
              <a:rPr sz="1250" b="0" i="0" dirty="0" err="1">
                <a:solidFill>
                  <a:srgbClr val="A9B4C0"/>
                </a:solidFill>
                <a:latin typeface="Calibri"/>
              </a:rPr>
              <a:t>но</a:t>
            </a:r>
            <a:r>
              <a:rPr sz="1250" b="0" i="0" dirty="0">
                <a:solidFill>
                  <a:srgbClr val="A9B4C0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A9B4C0"/>
                </a:solidFill>
                <a:latin typeface="Calibri"/>
              </a:rPr>
              <a:t>при</a:t>
            </a:r>
            <a:r>
              <a:rPr sz="1250" b="0" i="0" dirty="0">
                <a:solidFill>
                  <a:srgbClr val="A9B4C0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A9B4C0"/>
                </a:solidFill>
                <a:latin typeface="Calibri"/>
              </a:rPr>
              <a:t>этом</a:t>
            </a:r>
            <a:r>
              <a:rPr sz="1250" b="0" i="0" dirty="0">
                <a:solidFill>
                  <a:srgbClr val="A9B4C0"/>
                </a:solidFill>
                <a:latin typeface="Calibri"/>
              </a:rPr>
              <a:t> CPU-</a:t>
            </a:r>
            <a:r>
              <a:rPr sz="1250" b="0" i="0" dirty="0" err="1">
                <a:solidFill>
                  <a:srgbClr val="A9B4C0"/>
                </a:solidFill>
                <a:latin typeface="Calibri"/>
              </a:rPr>
              <a:t>бюджете</a:t>
            </a:r>
            <a:r>
              <a:rPr sz="1250" b="0" i="0" dirty="0">
                <a:solidFill>
                  <a:srgbClr val="A9B4C0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A9B4C0"/>
                </a:solidFill>
                <a:latin typeface="Calibri"/>
              </a:rPr>
              <a:t>обучения</a:t>
            </a:r>
            <a:r>
              <a:rPr sz="1250" b="0" i="0" dirty="0">
                <a:solidFill>
                  <a:srgbClr val="A9B4C0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A9B4C0"/>
                </a:solidFill>
                <a:latin typeface="Calibri"/>
              </a:rPr>
              <a:t>всё</a:t>
            </a:r>
            <a:r>
              <a:rPr sz="1250" b="0" i="0" dirty="0">
                <a:solidFill>
                  <a:srgbClr val="A9B4C0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A9B4C0"/>
                </a:solidFill>
                <a:latin typeface="Calibri"/>
              </a:rPr>
              <a:t>же</a:t>
            </a:r>
            <a:r>
              <a:rPr sz="1250" b="0" i="0" dirty="0">
                <a:solidFill>
                  <a:srgbClr val="A9B4C0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A9B4C0"/>
                </a:solidFill>
                <a:latin typeface="Calibri"/>
              </a:rPr>
              <a:t>уступает</a:t>
            </a:r>
            <a:r>
              <a:rPr sz="1250" b="0" i="0" dirty="0">
                <a:solidFill>
                  <a:srgbClr val="A9B4C0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A9B4C0"/>
                </a:solidFill>
                <a:latin typeface="Calibri"/>
              </a:rPr>
              <a:t>табличным</a:t>
            </a:r>
            <a:r>
              <a:rPr sz="1250" b="0" i="0" dirty="0">
                <a:solidFill>
                  <a:srgbClr val="A9B4C0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A9B4C0"/>
                </a:solidFill>
                <a:latin typeface="Calibri"/>
              </a:rPr>
              <a:t>моделям</a:t>
            </a:r>
            <a:r>
              <a:rPr sz="1250" b="0" i="0" dirty="0">
                <a:solidFill>
                  <a:srgbClr val="A9B4C0"/>
                </a:solidFill>
                <a:latin typeface="Calibri"/>
              </a:rPr>
              <a:t>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051" y="2103120"/>
            <a:ext cx="2590723" cy="3291840"/>
          </a:xfrm>
          <a:prstGeom prst="roundRect">
            <a:avLst>
              <a:gd name="adj" fmla="val 6000"/>
            </a:avLst>
          </a:prstGeom>
          <a:solidFill>
            <a:srgbClr val="1E2530"/>
          </a:solidFill>
          <a:ln w="9525">
            <a:solidFill>
              <a:srgbClr val="2E38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098051" y="2212848"/>
            <a:ext cx="54864" cy="3072384"/>
          </a:xfrm>
          <a:prstGeom prst="rect">
            <a:avLst/>
          </a:prstGeom>
          <a:solidFill>
            <a:srgbClr val="5FA3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54083" y="2249424"/>
            <a:ext cx="2078659" cy="414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2F4F7"/>
                </a:solidFill>
                <a:latin typeface="Calibri"/>
              </a:rPr>
              <a:t>Дальше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54083" y="2636266"/>
            <a:ext cx="2078659" cy="1329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lang="ru-RU" sz="1250" b="0" i="0" dirty="0">
                <a:solidFill>
                  <a:srgbClr val="A9B4C0"/>
                </a:solidFill>
                <a:latin typeface="Calibri"/>
              </a:rPr>
              <a:t>Онлайн A/B-эксперимент, больший бюджет обучения </a:t>
            </a:r>
            <a:r>
              <a:rPr lang="ru-RU" sz="1250" b="0" i="0" dirty="0" err="1">
                <a:solidFill>
                  <a:srgbClr val="A9B4C0"/>
                </a:solidFill>
                <a:latin typeface="Calibri"/>
              </a:rPr>
              <a:t>Transformer</a:t>
            </a:r>
            <a:r>
              <a:rPr lang="ru-RU" sz="1250" b="0" i="0" dirty="0">
                <a:solidFill>
                  <a:srgbClr val="A9B4C0"/>
                </a:solidFill>
                <a:latin typeface="Calibri"/>
              </a:rPr>
              <a:t>, углубление в теорию </a:t>
            </a:r>
            <a:r>
              <a:rPr lang="ru-RU" sz="1250" b="0" i="0" dirty="0" err="1">
                <a:solidFill>
                  <a:srgbClr val="A9B4C0"/>
                </a:solidFill>
                <a:latin typeface="Calibri"/>
              </a:rPr>
              <a:t>Transformer</a:t>
            </a:r>
            <a:r>
              <a:rPr lang="ru-RU" sz="1250" b="0" i="0" dirty="0">
                <a:solidFill>
                  <a:srgbClr val="A9B4C0"/>
                </a:solidFill>
                <a:latin typeface="Calibri"/>
              </a:rPr>
              <a:t>-архитектур и других современных подходов.</a:t>
            </a:r>
            <a:endParaRPr sz="1250" b="0" i="0" dirty="0">
              <a:solidFill>
                <a:srgbClr val="A9B4C0"/>
              </a:solidFill>
              <a:latin typeface="Calibri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0" y="6400800"/>
            <a:ext cx="12191695" cy="10972"/>
          </a:xfrm>
          <a:prstGeom prst="rect">
            <a:avLst/>
          </a:prstGeom>
          <a:solidFill>
            <a:srgbClr val="2E38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9B4C0"/>
                </a:solidFill>
                <a:latin typeface="Calibri"/>
              </a:rPr>
              <a:t>Uplift Modeling · Junior ML Contest · AI Talent Hub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17175" y="64739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A9B4C0"/>
                </a:solidFill>
                <a:latin typeface="Calibri"/>
              </a:rPr>
              <a:t>09 / 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1212</Words>
  <Application>Microsoft Office PowerPoint</Application>
  <PresentationFormat>Широкоэкранный</PresentationFormat>
  <Paragraphs>149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Галиб Байрамов</cp:lastModifiedBy>
  <cp:revision>4</cp:revision>
  <dcterms:created xsi:type="dcterms:W3CDTF">2013-01-27T09:14:16Z</dcterms:created>
  <dcterms:modified xsi:type="dcterms:W3CDTF">2026-07-19T22:58:51Z</dcterms:modified>
  <cp:category/>
</cp:coreProperties>
</file>